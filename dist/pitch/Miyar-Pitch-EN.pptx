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4b52307f874bc7" /><Relationship Type="http://schemas.openxmlformats.org/officeDocument/2006/relationships/extended-properties" Target="/docProps/app.xml" Id="Rfbf99dc2303d4d70" /><Relationship Type="http://schemas.openxmlformats.org/officeDocument/2006/relationships/officeDocument" Target="/ppt/presentation.xml" Id="R6524076dc17543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61962831894e8d"/>
  </p:sldMasterIdLst>
  <p:notesMasterIdLst>
    <p:notesMasterId xmlns:r="http://schemas.openxmlformats.org/officeDocument/2006/relationships" r:id="R6a3c12c7a96c401b"/>
  </p:notesMasterIdLst>
  <p:sldIdLst>
    <p:sldId xmlns:r="http://schemas.openxmlformats.org/officeDocument/2006/relationships" id="256" r:id="R69ed14a1331947ff"/>
    <p:sldId xmlns:r="http://schemas.openxmlformats.org/officeDocument/2006/relationships" id="257" r:id="Ra7955a09dbd44e3b"/>
    <p:sldId xmlns:r="http://schemas.openxmlformats.org/officeDocument/2006/relationships" id="258" r:id="Rdb62d1ed0edd4237"/>
    <p:sldId xmlns:r="http://schemas.openxmlformats.org/officeDocument/2006/relationships" id="259" r:id="R205591b098854042"/>
    <p:sldId xmlns:r="http://schemas.openxmlformats.org/officeDocument/2006/relationships" id="260" r:id="R8f16aeadef77470b"/>
    <p:sldId xmlns:r="http://schemas.openxmlformats.org/officeDocument/2006/relationships" id="261" r:id="Ra9b77ae4265943c4"/>
    <p:sldId xmlns:r="http://schemas.openxmlformats.org/officeDocument/2006/relationships" id="262" r:id="Rde600e267f3b49a6"/>
    <p:sldId xmlns:r="http://schemas.openxmlformats.org/officeDocument/2006/relationships" id="263" r:id="Rb617a59664e741f1"/>
    <p:sldId xmlns:r="http://schemas.openxmlformats.org/officeDocument/2006/relationships" id="264" r:id="R015aeaa0f17d422d"/>
    <p:sldId xmlns:r="http://schemas.openxmlformats.org/officeDocument/2006/relationships" id="265" r:id="R0a5789cd968d424d"/>
    <p:sldId xmlns:r="http://schemas.openxmlformats.org/officeDocument/2006/relationships" id="266" r:id="Raa3a54a5c2d74ae3"/>
    <p:sldId xmlns:r="http://schemas.openxmlformats.org/officeDocument/2006/relationships" id="267" r:id="Rd77a33a064724919"/>
    <p:sldId xmlns:r="http://schemas.openxmlformats.org/officeDocument/2006/relationships" id="268" r:id="R3c42968b703645bb"/>
    <p:sldId xmlns:r="http://schemas.openxmlformats.org/officeDocument/2006/relationships" id="269" r:id="R619115de4cc8456c"/>
    <p:sldId xmlns:r="http://schemas.openxmlformats.org/officeDocument/2006/relationships" id="270" r:id="Rc260d15789d348ef"/>
    <p:sldId xmlns:r="http://schemas.openxmlformats.org/officeDocument/2006/relationships" id="271" r:id="R818b95750c7f46ae"/>
    <p:sldId xmlns:r="http://schemas.openxmlformats.org/officeDocument/2006/relationships" id="272" r:id="R654d51bdc92a49a3"/>
    <p:sldId xmlns:r="http://schemas.openxmlformats.org/officeDocument/2006/relationships" id="273" r:id="R8d9ec39e773446fe"/>
  </p:sldIdLst>
  <p:sldSz cx="15249525" cy="9525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ad61bd76504ccb" /><Relationship Type="http://schemas.openxmlformats.org/officeDocument/2006/relationships/slideMaster" Target="/ppt/slideMasters/slideMaster1.xml" Id="Reb61962831894e8d" /><Relationship Type="http://schemas.openxmlformats.org/officeDocument/2006/relationships/notesMaster" Target="/ppt/notesMasters/notesMaster1.xml" Id="R6a3c12c7a96c401b" /><Relationship Type="http://schemas.openxmlformats.org/officeDocument/2006/relationships/presProps" Target="/ppt/presProps.xml" Id="R098f9b3803b24341" /><Relationship Type="http://schemas.openxmlformats.org/officeDocument/2006/relationships/tableStyles" Target="/ppt/tableStyles.xml" Id="R302e70496a644a75" /><Relationship Type="http://schemas.openxmlformats.org/officeDocument/2006/relationships/slide" Target="/ppt/slides/slide1.xml" Id="R69ed14a1331947ff" /><Relationship Type="http://schemas.openxmlformats.org/officeDocument/2006/relationships/slide" Target="/ppt/slides/slide2.xml" Id="Ra7955a09dbd44e3b" /><Relationship Type="http://schemas.openxmlformats.org/officeDocument/2006/relationships/slide" Target="/ppt/slides/slide3.xml" Id="Rdb62d1ed0edd4237" /><Relationship Type="http://schemas.openxmlformats.org/officeDocument/2006/relationships/slide" Target="/ppt/slides/slide4.xml" Id="R205591b098854042" /><Relationship Type="http://schemas.openxmlformats.org/officeDocument/2006/relationships/slide" Target="/ppt/slides/slide5.xml" Id="R8f16aeadef77470b" /><Relationship Type="http://schemas.openxmlformats.org/officeDocument/2006/relationships/slide" Target="/ppt/slides/slide6.xml" Id="Ra9b77ae4265943c4" /><Relationship Type="http://schemas.openxmlformats.org/officeDocument/2006/relationships/slide" Target="/ppt/slides/slide7.xml" Id="Rde600e267f3b49a6" /><Relationship Type="http://schemas.openxmlformats.org/officeDocument/2006/relationships/slide" Target="/ppt/slides/slide8.xml" Id="Rb617a59664e741f1" /><Relationship Type="http://schemas.openxmlformats.org/officeDocument/2006/relationships/slide" Target="/ppt/slides/slide9.xml" Id="R015aeaa0f17d422d" /><Relationship Type="http://schemas.openxmlformats.org/officeDocument/2006/relationships/slide" Target="/ppt/slides/slide10.xml" Id="R0a5789cd968d424d" /><Relationship Type="http://schemas.openxmlformats.org/officeDocument/2006/relationships/slide" Target="/ppt/slides/slide11.xml" Id="Raa3a54a5c2d74ae3" /><Relationship Type="http://schemas.openxmlformats.org/officeDocument/2006/relationships/slide" Target="/ppt/slides/slide12.xml" Id="Rd77a33a064724919" /><Relationship Type="http://schemas.openxmlformats.org/officeDocument/2006/relationships/slide" Target="/ppt/slides/slide13.xml" Id="R3c42968b703645bb" /><Relationship Type="http://schemas.openxmlformats.org/officeDocument/2006/relationships/slide" Target="/ppt/slides/slide14.xml" Id="R619115de4cc8456c" /><Relationship Type="http://schemas.openxmlformats.org/officeDocument/2006/relationships/slide" Target="/ppt/slides/slide15.xml" Id="Rc260d15789d348ef" /><Relationship Type="http://schemas.openxmlformats.org/officeDocument/2006/relationships/slide" Target="/ppt/slides/slide16.xml" Id="R818b95750c7f46ae" /><Relationship Type="http://schemas.openxmlformats.org/officeDocument/2006/relationships/slide" Target="/ppt/slides/slide17.xml" Id="R654d51bdc92a49a3" /><Relationship Type="http://schemas.openxmlformats.org/officeDocument/2006/relationships/slide" Target="/ppt/slides/slide18.xml" Id="R8d9ec39e773446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222c9a4dee46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3625a3383b48b9" /><Relationship Type="http://schemas.openxmlformats.org/officeDocument/2006/relationships/notesMaster" Target="/ppt/notesMasters/notesMaster1.xml" Id="Radc678101c6146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9cd7fc71eb4e2a" /><Relationship Type="http://schemas.openxmlformats.org/officeDocument/2006/relationships/notesMaster" Target="/ppt/notesMasters/notesMaster1.xml" Id="Rf0258613608b46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824bd9aed24994" /><Relationship Type="http://schemas.openxmlformats.org/officeDocument/2006/relationships/notesMaster" Target="/ppt/notesMasters/notesMaster1.xml" Id="R0872f48789a049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6990bb94db42b6" /><Relationship Type="http://schemas.openxmlformats.org/officeDocument/2006/relationships/notesMaster" Target="/ppt/notesMasters/notesMaster1.xml" Id="R9e8acca195b14a2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fe1e4dcf034e10" /><Relationship Type="http://schemas.openxmlformats.org/officeDocument/2006/relationships/notesMaster" Target="/ppt/notesMasters/notesMaster1.xml" Id="R9a191c7c5b9d49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972ea68d2042f3" /><Relationship Type="http://schemas.openxmlformats.org/officeDocument/2006/relationships/notesMaster" Target="/ppt/notesMasters/notesMaster1.xml" Id="R71437c23d18a4a2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b3af7b0993c4df7" /><Relationship Type="http://schemas.openxmlformats.org/officeDocument/2006/relationships/notesMaster" Target="/ppt/notesMasters/notesMaster1.xml" Id="Ra3da2f63f3044d4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fbad713edaf4db3" /><Relationship Type="http://schemas.openxmlformats.org/officeDocument/2006/relationships/notesMaster" Target="/ppt/notesMasters/notesMaster1.xml" Id="R4c18daa4a23e4f1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871724701014e46" /><Relationship Type="http://schemas.openxmlformats.org/officeDocument/2006/relationships/notesMaster" Target="/ppt/notesMasters/notesMaster1.xml" Id="Rd2b420c75e36442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ae053cc72f944b0" /><Relationship Type="http://schemas.openxmlformats.org/officeDocument/2006/relationships/notesMaster" Target="/ppt/notesMasters/notesMaster1.xml" Id="R3d0311b4efe64ca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a991e2672cc4172" /><Relationship Type="http://schemas.openxmlformats.org/officeDocument/2006/relationships/notesMaster" Target="/ppt/notesMasters/notesMaster1.xml" Id="Ra95342d164aa465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48580056991425d" /><Relationship Type="http://schemas.openxmlformats.org/officeDocument/2006/relationships/notesMaster" Target="/ppt/notesMasters/notesMaster1.xml" Id="R7805522c7244490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ccdfa29019b418f" /><Relationship Type="http://schemas.openxmlformats.org/officeDocument/2006/relationships/notesMaster" Target="/ppt/notesMasters/notesMaster1.xml" Id="Rdeaa526e1da0463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c26c95d1be74a1f" /><Relationship Type="http://schemas.openxmlformats.org/officeDocument/2006/relationships/notesMaster" Target="/ppt/notesMasters/notesMaster1.xml" Id="Rb075f97a4e64451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25bb5d00b1b4be7" /><Relationship Type="http://schemas.openxmlformats.org/officeDocument/2006/relationships/notesMaster" Target="/ppt/notesMasters/notesMaster1.xml" Id="R7f6dd0d212f445b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635e2f539464f15" /><Relationship Type="http://schemas.openxmlformats.org/officeDocument/2006/relationships/notesMaster" Target="/ppt/notesMasters/notesMaster1.xml" Id="R63c4a47eab5541d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1fa30447fbe452d" /><Relationship Type="http://schemas.openxmlformats.org/officeDocument/2006/relationships/notesMaster" Target="/ppt/notesMasters/notesMaster1.xml" Id="R66091175e34f41b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3ffaf757bee40da" /><Relationship Type="http://schemas.openxmlformats.org/officeDocument/2006/relationships/notesMaster" Target="/ppt/notesMasters/notesMaster1.xml" Id="R6c793e7707d449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MIYAR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Miyar product narrative and proposed institutional pilot. Product: https://adeebnoor.github.io/Miyar/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Innovation center and institutional pilot presentation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Architectural photo generated by OpenAI image generation for this deck. Illustrative setting; not a customer location.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reference: supplied Uber_Pitch_Deck_Template.pdf. Original Miyar copy; no Uber logos, market figures or customer claims reused.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problem: one decision, disconnected files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Problem framing for the proposed institutional pilot. Not a quantified market finding.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reference: supplied Uber_Pitch_Deck_Template.pdf. Original Miyar copy; no Uber logos, market figures or customer claims reused.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commitment starts before recruitment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Miyar product narrative and proposed institutional pilot. Product: https://adeebnoor.github.io/Miyar/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reference: supplied Uber_Pitch_Deck_Template.pdf. Original Miyar copy; no Uber logos, market figures or customer claims reused.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solution: a connected position record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Miyar product narrative and proposed institutional pilot. Product: https://adeebnoor.github.io/Miyar/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Architectural photo generated by OpenAI image generation for this deck. Illustrative setting; not a customer location.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reference: supplied Uber_Pitch_Deck_Template.pdf. Original Miyar copy; no Uber logos, market figures or customer claims reused.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How Miyar works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Miyar product narrative and proposed institutional pilot. Product: https://adeebnoor.github.io/Miyar/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reference: supplied Uber_Pitch_Deck_Template.pdf. Original Miyar copy; no Uber logos, market figures or customer claims reused.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product: a reviewable position record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Supplied Miyar-Decision-214401-en(1).json. Current corpus confirms occupation 214401 and education specialization 071501. The importer preserves provenance and restores the unique leading-zero education code.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Reference example. Importing a code does not approve a position.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reference: supplied Uber_Pitch_Deck_Template.pdf. Original Miyar copy; no Uber logos, market figures or customer claims reused.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Clear responsibilities and measurable outcomes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Miyar product narrative and proposed institutional pilot. Product: https://adeebnoor.github.io/Miyar/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Illustrative targets and responsibilities, not achieved platform results.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reference: supplied Uber_Pitch_Deck_Template.pdf. Original Miyar copy; no Uber logos, market figures or customer claims reused.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Governance: four specialist reviews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Miyar product narrative and proposed institutional pilot. Product: https://adeebnoor.github.io/Miyar/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Defined permissions separate the requester from the approver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reference: supplied Uber_Pitch_Deck_Template.pdf. Original Miyar copy; no Uber logos, market figures or customer claims reused.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Saudi references within the decision workflow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https://adeebnoor.github.io/Miyar/classifications/ssco-2019.json and https://adeebnoor.github.io/Miyar/classifications/education-2020.json. Corpus counts verified against repository data. These are reference coverage counts, not compliance rates.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Professional-category alerts include official authority links for review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reference: supplied Uber_Pitch_Deck_Template.pdf. Original Miyar copy; no Uber logos, market figures or customer claims reused.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distinguishes Miyar’s focus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Miyar product narrative and proposed institutional pilot. Product: https://adeebnoor.github.io/Miyar/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reference: supplied Uber_Pitch_Deck_Template.pdf. Original Miyar copy; no Uber logos, market figures or customer claims reused.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 customers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Miyar product narrative and proposed institutional pilot. Product: https://adeebnoor.github.io/Miyar/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Target segments for pilots and expansion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Architectural photo generated by OpenAI image generation for this deck. Illustrative setting; not a customer location.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reference: supplied Uber_Pitch_Deck_Template.pdf. Original Miyar copy; no Uber logos, market figures or customer claims reused.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business model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Miyar product narrative and proposed institutional pilot. Product: https://adeebnoor.github.io/Miyar/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Pricing and willingness to pay will be tested with the pilot partner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reference: supplied Uber_Pitch_Deck_Template.pdf. Original Miyar copy; no Uber logos, market figures or customer claims reused.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Go-to-market plan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Miyar product narrative and proposed institutional pilot. Product: https://adeebnoor.github.io/Miyar/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Proposed plan, not existing contracts or partnerships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reference: supplied Uber_Pitch_Deck_Template.pdf. Original Miyar copy; no Uber logos, market figures or customer claims reused.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Progress to date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Miyar 4.5 deployed service and September 2026 enterprise entrance. Current functionality verified in repository tests and deployed asset checks. No customer traction or revenue is claimed.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 milestone: measure value with a pilot institution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reference: supplied Uber_Pitch_Deck_Template.pdf. Original Miyar copy; no Uber logos, market figures or customer claims reused.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capabilities and expansion plan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Miyar product narrative and proposed institutional pilot. Product: https://adeebnoor.github.io/Miyar/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Miyar does not calculate proprietary Korn Ferry scores or automatically guarantee compliance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reference: supplied Uber_Pitch_Deck_Template.pdf. Original Miyar copy; no Uber logos, market figures or customer claims reused.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measurable institutional pilot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Miyar product narrative and proposed institutional pilot. Product: https://adeebnoor.github.io/Miyar/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Proposed scope to agree with the partner; these numbers are not achieved results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reference: supplied Uber_Pitch_Deck_Template.pdf. Original Miyar copy; no Uber logos, market figures or customer claims reused.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Miyar team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Team names are credited on the Miyar website. Adeeb Noor’s KAU affiliation was supplied by the user. No unverified founder, executive or employment title is assigned to Ahmad Raza Khan.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 welcome OD and job-evaluation specialists to participate in the pilot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reference: supplied Uber_Pitch_Deck_Template.pdf. Original Miyar copy; no Uber logos, market figures or customer claims reused.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ask for the innovation center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Miyar product narrative and proposed institutional pilot. Product: https://adeebnoor.github.io/Miyar/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Explore the platform and start with the sample position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Architectural photo generated by OpenAI image generation for this deck. Illustrative setting; not a customer location.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reference: supplied Uber_Pitch_Deck_Template.pdf. Original Miyar copy; no Uber logos, market figures or customer claims reused.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8f0251c45343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fe3599966047dd" /><Relationship Type="http://schemas.openxmlformats.org/officeDocument/2006/relationships/slideLayout" Target="/ppt/slideLayouts/slideLayout1.xml" Id="R68898104eb364e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898104eb364e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bdf7bd5c96477c" /><Relationship Type="http://schemas.openxmlformats.org/officeDocument/2006/relationships/image" Target="/ppt/media/image.jpeg" Id="R0f5e6512e56749fe" /><Relationship Type="http://schemas.openxmlformats.org/officeDocument/2006/relationships/notesSlide" Target="/ppt/notesSlides/notesSlide1.xml" Id="R15b84862d25941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a1a32c45f64164" /><Relationship Type="http://schemas.openxmlformats.org/officeDocument/2006/relationships/notesSlide" Target="/ppt/notesSlides/notesSlide2.xml" Id="R20d1cbea208947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a5b5b888f24c97" /><Relationship Type="http://schemas.openxmlformats.org/officeDocument/2006/relationships/notesSlide" Target="/ppt/notesSlides/notesSlide3.xml" Id="R28a3beb09e374f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184e0991d847fd" /><Relationship Type="http://schemas.openxmlformats.org/officeDocument/2006/relationships/image" Target="/ppt/media/image2.jpeg" Id="Re3b72489442f4c36" /><Relationship Type="http://schemas.openxmlformats.org/officeDocument/2006/relationships/notesSlide" Target="/ppt/notesSlides/notesSlide4.xml" Id="R86c34120fa214c0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18f255758344f4" /><Relationship Type="http://schemas.openxmlformats.org/officeDocument/2006/relationships/notesSlide" Target="/ppt/notesSlides/notesSlide5.xml" Id="R819e7fe7d37b41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ac9310948046fa" /><Relationship Type="http://schemas.openxmlformats.org/officeDocument/2006/relationships/notesSlide" Target="/ppt/notesSlides/notesSlide6.xml" Id="Re96eb718743a4b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9950253cba406f" /><Relationship Type="http://schemas.openxmlformats.org/officeDocument/2006/relationships/notesSlide" Target="/ppt/notesSlides/notesSlide7.xml" Id="Rd56c2cfb3bed4e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7f051ade184402" /><Relationship Type="http://schemas.openxmlformats.org/officeDocument/2006/relationships/notesSlide" Target="/ppt/notesSlides/notesSlide8.xml" Id="R98c29940d370406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00385ab5bc4767" /><Relationship Type="http://schemas.openxmlformats.org/officeDocument/2006/relationships/notesSlide" Target="/ppt/notesSlides/notesSlide9.xml" Id="Rc5759e728d3f4e1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08b0b060fe4a11" /><Relationship Type="http://schemas.openxmlformats.org/officeDocument/2006/relationships/notesSlide" Target="/ppt/notesSlides/notesSlide10.xml" Id="R7122b6d96b44463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56698d9088439f" /><Relationship Type="http://schemas.openxmlformats.org/officeDocument/2006/relationships/image" Target="/ppt/media/image3.jpeg" Id="R8faf6508e9e546fa" /><Relationship Type="http://schemas.openxmlformats.org/officeDocument/2006/relationships/notesSlide" Target="/ppt/notesSlides/notesSlide11.xml" Id="R523b0a93daed46c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5f5a6d56a74902" /><Relationship Type="http://schemas.openxmlformats.org/officeDocument/2006/relationships/notesSlide" Target="/ppt/notesSlides/notesSlide12.xml" Id="R180098a7cbe44c8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35b6a88b7a4bdc" /><Relationship Type="http://schemas.openxmlformats.org/officeDocument/2006/relationships/notesSlide" Target="/ppt/notesSlides/notesSlide13.xml" Id="R4c2da31c9e3c41a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5badc44b55441d" /><Relationship Type="http://schemas.openxmlformats.org/officeDocument/2006/relationships/notesSlide" Target="/ppt/notesSlides/notesSlide14.xml" Id="Rc760e6c479c9469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52587f16e04d19" /><Relationship Type="http://schemas.openxmlformats.org/officeDocument/2006/relationships/notesSlide" Target="/ppt/notesSlides/notesSlide15.xml" Id="Rdbc54caefc87488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f7816384f04eba" /><Relationship Type="http://schemas.openxmlformats.org/officeDocument/2006/relationships/notesSlide" Target="/ppt/notesSlides/notesSlide16.xml" Id="R90cf7d4e355c44a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520d50712341ba" /><Relationship Type="http://schemas.openxmlformats.org/officeDocument/2006/relationships/notesSlide" Target="/ppt/notesSlides/notesSlide17.xml" Id="R5752c48e4c0b41e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22ac227a1947b6" /><Relationship Type="http://schemas.openxmlformats.org/officeDocument/2006/relationships/image" Target="/ppt/media/image4.jpeg" Id="R6ea67b2f79074cd6" /><Relationship Type="http://schemas.openxmlformats.org/officeDocument/2006/relationships/hyperlink" Target="https://adeebnoor.github.io/Miyar/" TargetMode="External" Id="R20d433f4b3834a0f" /><Relationship Type="http://schemas.openxmlformats.org/officeDocument/2006/relationships/notesSlide" Target="/ppt/notesSlides/notesSlide18.xml" Id="R361a5d79c50b48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0B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5e6512e56749fe"/>
          <a:srcRect xmlns:a="http://schemas.openxmlformats.org/drawingml/2006/main" l="0" t="69" r="0" b="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9525" cy="9525000"/>
          </a:xfrm>
          <a:prstGeom xmlns:a="http://schemas.openxmlformats.org/drawingml/2006/main" prst="rect">
            <a:avLst/>
          </a:prstGeom>
        </p:spPr>
      </p:pic>
      <p:sp>
        <p:nvSpPr>
          <p:cNvPr id="2" name="photo-legibility-overlay">
            <a:extLst xmlns:a="http://schemas.openxmlformats.org/drawingml/2006/main">
              <a:ext uri="{FF2B5EF4-FFF2-40B4-BE49-F238E27FC236}">
                <a16:creationId xmlns:a16="http://schemas.microsoft.com/office/drawing/2014/main" id="{D249D467-9A4D-46B2-B08A-07143842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9525" cy="952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B1D">
              <a:alpha val="58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9CEDF365-E07C-4B99-B2FE-0D6FCDF4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953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MIYAR</a:t>
            </a:r>
          </a:p>
        </p:txBody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985C0844-E03A-47BE-9E6D-F0957CB7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84872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E1E7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D7E1E7"/>
                </a:solidFill>
                <a:latin typeface="Nimbus Sans"/>
                <a:ea typeface="Nimbus Sans"/>
                <a:cs typeface="Nimbus Sans"/>
              </a:rPr>
              <a:t>1</a:t>
            </a:r>
          </a:p>
        </p:txBody>
      </p:sp>
      <p:sp>
        <p:nvSpPr>
          <p:cNvPr id="5" name="cover-top-rule">
            <a:extLst xmlns:a="http://schemas.openxmlformats.org/drawingml/2006/main">
              <a:ext uri="{FF2B5EF4-FFF2-40B4-BE49-F238E27FC236}">
                <a16:creationId xmlns:a16="http://schemas.microsoft.com/office/drawing/2014/main" id="{B9F4D798-3B95-4172-9EE0-F2EBCC543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47950"/>
            <a:ext cx="131540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6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9D09E86-B37F-4B1E-B59D-E87F34806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131540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0" b="1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9000" b="1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MIYAR</a:t>
            </a:r>
          </a:p>
        </p:txBody>
      </p:sp>
      <p:sp>
        <p:nvSpPr>
          <p:cNvPr id="7" name="cover-bottom-rule">
            <a:extLst xmlns:a="http://schemas.openxmlformats.org/drawingml/2006/main">
              <a:ext uri="{FF2B5EF4-FFF2-40B4-BE49-F238E27FC236}">
                <a16:creationId xmlns:a16="http://schemas.microsoft.com/office/drawing/2014/main" id="{CD40410E-056B-4904-9BAB-22E4EFB0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81525"/>
            <a:ext cx="131540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8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1D4E5028-0871-461E-900F-A9E05FA5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19675"/>
            <a:ext cx="131540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4200" b="1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Position governance before hiring</a:t>
            </a:r>
          </a:p>
        </p:txBody>
      </p:sp>
      <p:sp>
        <p:nvSpPr>
          <p:cNvPr id="9" name="cover-body">
            <a:extLst xmlns:a="http://schemas.openxmlformats.org/drawingml/2006/main">
              <a:ext uri="{FF2B5EF4-FFF2-40B4-BE49-F238E27FC236}">
                <a16:creationId xmlns:a16="http://schemas.microsoft.com/office/drawing/2014/main" id="{DEA2577B-FCC5-497D-8D2F-B44F6590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229350"/>
            <a:ext cx="122015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2775" b="0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Connect the business need to a job description, evaluation and documented approval</a:t>
            </a:r>
          </a:p>
        </p:txBody>
      </p:sp>
      <p:sp>
        <p:nvSpPr>
          <p:cNvPr id="10" name="slide-note">
            <a:extLst xmlns:a="http://schemas.openxmlformats.org/drawingml/2006/main">
              <a:ext uri="{FF2B5EF4-FFF2-40B4-BE49-F238E27FC236}">
                <a16:creationId xmlns:a16="http://schemas.microsoft.com/office/drawing/2014/main" id="{54A1DF4A-8906-4269-A3D8-4801ACD4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8448675"/>
            <a:ext cx="12249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E1E7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D7E1E7"/>
                </a:solidFill>
                <a:latin typeface="Nimbus Sans"/>
                <a:ea typeface="Nimbus Sans"/>
                <a:cs typeface="Nimbus Sans"/>
              </a:rPr>
              <a:t>Innovation center and institutional pilot presentation</a:t>
            </a:r>
          </a:p>
        </p:txBody>
      </p:sp>
    </p:spTree>
    <p:extLst>
      <p:ext uri="{BB962C8B-B14F-4D97-AF65-F5344CB8AC3E}">
        <p14:creationId xmlns:p14="http://schemas.microsoft.com/office/powerpoint/2010/main" val="10653165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C0B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brand">
            <a:extLst xmlns:a="http://schemas.openxmlformats.org/drawingml/2006/main">
              <a:ext uri="{FF2B5EF4-FFF2-40B4-BE49-F238E27FC236}">
                <a16:creationId xmlns:a16="http://schemas.microsoft.com/office/drawing/2014/main" id="{54D2F84C-1D52-4F88-A44E-BC2C2958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953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MIYAR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CF90071D-C347-4EC5-A29E-FA7C25AA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84872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E1E7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D7E1E7"/>
                </a:solidFill>
                <a:latin typeface="Nimbus Sans"/>
                <a:ea typeface="Nimbus Sans"/>
                <a:cs typeface="Nimbus Sans"/>
              </a:rPr>
              <a:t>2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5539541-13E5-4BF9-843B-3262D8C8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76375"/>
            <a:ext cx="131540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4350" b="1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The problem: one decision, disconnected files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7EBD303B-1919-4301-A18E-B3A08BA6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43225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5" name="column-title-0">
            <a:extLst xmlns:a="http://schemas.openxmlformats.org/drawingml/2006/main">
              <a:ext uri="{FF2B5EF4-FFF2-40B4-BE49-F238E27FC236}">
                <a16:creationId xmlns:a16="http://schemas.microsoft.com/office/drawing/2014/main" id="{AC659509-6C88-4BD1-AF4B-51892F3C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62350"/>
            <a:ext cx="6057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BB4BD"/>
                </a:solidFill>
                <a:latin typeface="Nimbus Sans"/>
                <a:ea typeface="Nimbus Sans"/>
                <a:cs typeface="Nimbus Sans"/>
              </a:defRPr>
            </a:pPr>
            <a:r>
              <a:rPr sz="2850" b="1">
                <a:solidFill>
                  <a:srgbClr val="1BB4BD"/>
                </a:solidFill>
                <a:latin typeface="Nimbus Sans"/>
                <a:ea typeface="Nimbus Sans"/>
                <a:cs typeface="Nimbus Sans"/>
              </a:rPr>
              <a:t>Fragmented information</a:t>
            </a:r>
          </a:p>
        </p:txBody>
      </p:sp>
      <p:sp>
        <p:nvSpPr>
          <p:cNvPr id="6" name="item-rule-0">
            <a:extLst xmlns:a="http://schemas.openxmlformats.org/drawingml/2006/main">
              <a:ext uri="{FF2B5EF4-FFF2-40B4-BE49-F238E27FC236}">
                <a16:creationId xmlns:a16="http://schemas.microsoft.com/office/drawing/2014/main" id="{F84836F2-9E09-4495-8642-20B92C5B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48225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7" name="item-0">
            <a:extLst xmlns:a="http://schemas.openxmlformats.org/drawingml/2006/main">
              <a:ext uri="{FF2B5EF4-FFF2-40B4-BE49-F238E27FC236}">
                <a16:creationId xmlns:a16="http://schemas.microsoft.com/office/drawing/2014/main" id="{25F93CE6-D603-41A6-B314-A63D5034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76775"/>
            <a:ext cx="57721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2550" b="0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The business case sits in an email</a:t>
            </a:r>
          </a:p>
        </p:txBody>
      </p:sp>
      <p:sp>
        <p:nvSpPr>
          <p:cNvPr id="8" name="item-rule-1">
            <a:extLst xmlns:a="http://schemas.openxmlformats.org/drawingml/2006/main">
              <a:ext uri="{FF2B5EF4-FFF2-40B4-BE49-F238E27FC236}">
                <a16:creationId xmlns:a16="http://schemas.microsoft.com/office/drawing/2014/main" id="{95E7D432-5DFE-4E67-9C0B-03282085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0550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9" name="item-1">
            <a:extLst xmlns:a="http://schemas.openxmlformats.org/drawingml/2006/main">
              <a:ext uri="{FF2B5EF4-FFF2-40B4-BE49-F238E27FC236}">
                <a16:creationId xmlns:a16="http://schemas.microsoft.com/office/drawing/2014/main" id="{A6C1D9D8-81D1-43A4-81F5-25217626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734050"/>
            <a:ext cx="57721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2550" b="0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The job description is a separate document</a:t>
            </a:r>
          </a:p>
        </p:txBody>
      </p:sp>
      <p:sp>
        <p:nvSpPr>
          <p:cNvPr id="10" name="item-rule-2">
            <a:extLst xmlns:a="http://schemas.openxmlformats.org/drawingml/2006/main">
              <a:ext uri="{FF2B5EF4-FFF2-40B4-BE49-F238E27FC236}">
                <a16:creationId xmlns:a16="http://schemas.microsoft.com/office/drawing/2014/main" id="{DDC2017F-4B0C-41E7-90C0-951ACD948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962775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11" name="item-2">
            <a:extLst xmlns:a="http://schemas.openxmlformats.org/drawingml/2006/main">
              <a:ext uri="{FF2B5EF4-FFF2-40B4-BE49-F238E27FC236}">
                <a16:creationId xmlns:a16="http://schemas.microsoft.com/office/drawing/2014/main" id="{C6629613-8DDF-435E-8A09-648B1EAC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791325"/>
            <a:ext cx="57721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2550" b="0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Evaluation and reviews live elsewhere</a:t>
            </a:r>
          </a:p>
        </p:txBody>
      </p:sp>
      <p:sp>
        <p:nvSpPr>
          <p:cNvPr id="12" name="column-title-1">
            <a:extLst xmlns:a="http://schemas.openxmlformats.org/drawingml/2006/main">
              <a:ext uri="{FF2B5EF4-FFF2-40B4-BE49-F238E27FC236}">
                <a16:creationId xmlns:a16="http://schemas.microsoft.com/office/drawing/2014/main" id="{D53F4552-8344-41D6-8866-D9102005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562350"/>
            <a:ext cx="6057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BB4BD"/>
                </a:solidFill>
                <a:latin typeface="Nimbus Sans"/>
                <a:ea typeface="Nimbus Sans"/>
                <a:cs typeface="Nimbus Sans"/>
              </a:defRPr>
            </a:pPr>
            <a:r>
              <a:rPr sz="2850" b="1">
                <a:solidFill>
                  <a:srgbClr val="1BB4BD"/>
                </a:solidFill>
                <a:latin typeface="Nimbus Sans"/>
                <a:ea typeface="Nimbus Sans"/>
                <a:cs typeface="Nimbus Sans"/>
              </a:rPr>
              <a:t>A decision that is hard to trace</a:t>
            </a:r>
          </a:p>
        </p:txBody>
      </p:sp>
      <p:sp>
        <p:nvSpPr>
          <p:cNvPr id="13" name="item-rule-0">
            <a:extLst xmlns:a="http://schemas.openxmlformats.org/drawingml/2006/main">
              <a:ext uri="{FF2B5EF4-FFF2-40B4-BE49-F238E27FC236}">
                <a16:creationId xmlns:a16="http://schemas.microsoft.com/office/drawing/2014/main" id="{A61892CE-D381-4AA4-9AF4-F76F007E2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848225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14" name="item-0">
            <a:extLst xmlns:a="http://schemas.openxmlformats.org/drawingml/2006/main">
              <a:ext uri="{FF2B5EF4-FFF2-40B4-BE49-F238E27FC236}">
                <a16:creationId xmlns:a16="http://schemas.microsoft.com/office/drawing/2014/main" id="{6A4C0B9C-9D40-4D0B-92B7-E74847CE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76775"/>
            <a:ext cx="57721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2550" b="0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What justifies adding the position?</a:t>
            </a:r>
          </a:p>
        </p:txBody>
      </p:sp>
      <p:sp>
        <p:nvSpPr>
          <p:cNvPr id="15" name="item-rule-1">
            <a:extLst xmlns:a="http://schemas.openxmlformats.org/drawingml/2006/main">
              <a:ext uri="{FF2B5EF4-FFF2-40B4-BE49-F238E27FC236}">
                <a16:creationId xmlns:a16="http://schemas.microsoft.com/office/drawing/2014/main" id="{A93CC5DA-CCF3-4AEF-9713-7C43FA04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90550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16" name="item-1">
            <a:extLst xmlns:a="http://schemas.openxmlformats.org/drawingml/2006/main">
              <a:ext uri="{FF2B5EF4-FFF2-40B4-BE49-F238E27FC236}">
                <a16:creationId xmlns:a16="http://schemas.microsoft.com/office/drawing/2014/main" id="{2497BB27-A58B-45E9-983E-C13481EC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734050"/>
            <a:ext cx="57721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2550" b="0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Which revision did each reviewer approve?</a:t>
            </a:r>
          </a:p>
        </p:txBody>
      </p:sp>
      <p:sp>
        <p:nvSpPr>
          <p:cNvPr id="17" name="item-rule-2">
            <a:extLst xmlns:a="http://schemas.openxmlformats.org/drawingml/2006/main">
              <a:ext uri="{FF2B5EF4-FFF2-40B4-BE49-F238E27FC236}">
                <a16:creationId xmlns:a16="http://schemas.microsoft.com/office/drawing/2014/main" id="{0ED8FFC5-F82C-4C3C-887C-46E3642B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962775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18" name="item-2">
            <a:extLst xmlns:a="http://schemas.openxmlformats.org/drawingml/2006/main">
              <a:ext uri="{FF2B5EF4-FFF2-40B4-BE49-F238E27FC236}">
                <a16:creationId xmlns:a16="http://schemas.microsoft.com/office/drawing/2014/main" id="{3DBF3D52-2FE1-490B-AB1F-1E2A4A6F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6791325"/>
            <a:ext cx="57721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2550" b="0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How does the grade relate to the role?</a:t>
            </a:r>
          </a:p>
        </p:txBody>
      </p:sp>
    </p:spTree>
    <p:extLst>
      <p:ext uri="{BB962C8B-B14F-4D97-AF65-F5344CB8AC3E}">
        <p14:creationId xmlns:p14="http://schemas.microsoft.com/office/powerpoint/2010/main" val="8257266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brand">
            <a:extLst xmlns:a="http://schemas.openxmlformats.org/drawingml/2006/main">
              <a:ext uri="{FF2B5EF4-FFF2-40B4-BE49-F238E27FC236}">
                <a16:creationId xmlns:a16="http://schemas.microsoft.com/office/drawing/2014/main" id="{F93391F0-FEA7-4FAE-9FA4-030A92D9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953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0C0B1D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0C0B1D"/>
                </a:solidFill>
                <a:latin typeface="Nimbus Sans"/>
                <a:ea typeface="Nimbus Sans"/>
                <a:cs typeface="Nimbus Sans"/>
              </a:rPr>
              <a:t>MIYAR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A893B7A5-A16B-40D2-B96C-38051EA77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84872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C5262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C5262"/>
                </a:solidFill>
                <a:latin typeface="Nimbus Sans"/>
                <a:ea typeface="Nimbus Sans"/>
                <a:cs typeface="Nimbus Sans"/>
              </a:rPr>
              <a:t>3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1B26281-B3C2-4095-A426-756114FC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76375"/>
            <a:ext cx="131540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C0B1D"/>
                </a:solidFill>
                <a:latin typeface="Nimbus Sans"/>
                <a:ea typeface="Nimbus Sans"/>
                <a:cs typeface="Nimbus Sans"/>
              </a:defRPr>
            </a:pPr>
            <a:r>
              <a:rPr sz="4350" b="1">
                <a:solidFill>
                  <a:srgbClr val="0C0B1D"/>
                </a:solidFill>
                <a:latin typeface="Nimbus Sans"/>
                <a:ea typeface="Nimbus Sans"/>
                <a:cs typeface="Nimbus Sans"/>
              </a:rPr>
              <a:t>The commitment starts before recruitment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B8528AB8-67DF-4182-BB56-40C4F1E2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43225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5" name="statement">
            <a:extLst xmlns:a="http://schemas.openxmlformats.org/drawingml/2006/main">
              <a:ext uri="{FF2B5EF4-FFF2-40B4-BE49-F238E27FC236}">
                <a16:creationId xmlns:a16="http://schemas.microsoft.com/office/drawing/2014/main" id="{23FF10C8-AD9D-45E4-A0CE-7046A5D7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131540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C0B1D"/>
                </a:solidFill>
                <a:latin typeface="Nimbus Sans"/>
                <a:ea typeface="Nimbus Sans"/>
                <a:cs typeface="Nimbus Sans"/>
              </a:defRPr>
            </a:pPr>
            <a:r>
              <a:rPr sz="3750" b="1">
                <a:solidFill>
                  <a:srgbClr val="0C0B1D"/>
                </a:solidFill>
                <a:latin typeface="Nimbus Sans"/>
                <a:ea typeface="Nimbus Sans"/>
                <a:cs typeface="Nimbus Sans"/>
              </a:rPr>
              <a:t>Every position needs a reviewable business case</a:t>
            </a:r>
          </a:p>
        </p:txBody>
      </p:sp>
      <p:sp>
        <p:nvSpPr>
          <p:cNvPr id="6" name="item-rule-0">
            <a:extLst xmlns:a="http://schemas.openxmlformats.org/drawingml/2006/main">
              <a:ext uri="{FF2B5EF4-FFF2-40B4-BE49-F238E27FC236}">
                <a16:creationId xmlns:a16="http://schemas.microsoft.com/office/drawing/2014/main" id="{EF38F8C6-B191-4D91-BAEA-B901C2CB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10225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7" name="item-0">
            <a:extLst xmlns:a="http://schemas.openxmlformats.org/drawingml/2006/main">
              <a:ext uri="{FF2B5EF4-FFF2-40B4-BE49-F238E27FC236}">
                <a16:creationId xmlns:a16="http://schemas.microsoft.com/office/drawing/2014/main" id="{1B73F3E4-75B1-4BCB-8069-B5269245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438775"/>
            <a:ext cx="128682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0C0B1D"/>
                </a:solidFill>
                <a:latin typeface="Nimbus Sans"/>
                <a:ea typeface="Nimbus Sans"/>
                <a:cs typeface="Nimbus Sans"/>
              </a:defRPr>
            </a:pPr>
            <a:r>
              <a:rPr sz="2850" b="0">
                <a:solidFill>
                  <a:srgbClr val="0C0B1D"/>
                </a:solidFill>
                <a:latin typeface="Nimbus Sans"/>
                <a:ea typeface="Nimbus Sans"/>
                <a:cs typeface="Nimbus Sans"/>
              </a:rPr>
              <a:t>A clear need and alternatives considered</a:t>
            </a:r>
          </a:p>
        </p:txBody>
      </p:sp>
      <p:sp>
        <p:nvSpPr>
          <p:cNvPr id="8" name="item-rule-1">
            <a:extLst xmlns:a="http://schemas.openxmlformats.org/drawingml/2006/main">
              <a:ext uri="{FF2B5EF4-FFF2-40B4-BE49-F238E27FC236}">
                <a16:creationId xmlns:a16="http://schemas.microsoft.com/office/drawing/2014/main" id="{2C8C6CE4-F97F-42B7-931C-32C63103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562725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9" name="item-1">
            <a:extLst xmlns:a="http://schemas.openxmlformats.org/drawingml/2006/main">
              <a:ext uri="{FF2B5EF4-FFF2-40B4-BE49-F238E27FC236}">
                <a16:creationId xmlns:a16="http://schemas.microsoft.com/office/drawing/2014/main" id="{ED62D1AC-FABC-43EA-A889-D5BE3E4E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391275"/>
            <a:ext cx="128682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0C0B1D"/>
                </a:solidFill>
                <a:latin typeface="Nimbus Sans"/>
                <a:ea typeface="Nimbus Sans"/>
                <a:cs typeface="Nimbus Sans"/>
              </a:defRPr>
            </a:pPr>
            <a:r>
              <a:rPr sz="2850" b="0">
                <a:solidFill>
                  <a:srgbClr val="0C0B1D"/>
                </a:solidFill>
                <a:latin typeface="Nimbus Sans"/>
                <a:ea typeface="Nimbus Sans"/>
                <a:cs typeface="Nimbus Sans"/>
              </a:rPr>
              <a:t>Defined responsibilities and decision rights</a:t>
            </a:r>
          </a:p>
        </p:txBody>
      </p:sp>
      <p:sp>
        <p:nvSpPr>
          <p:cNvPr id="10" name="item-rule-2">
            <a:extLst xmlns:a="http://schemas.openxmlformats.org/drawingml/2006/main">
              <a:ext uri="{FF2B5EF4-FFF2-40B4-BE49-F238E27FC236}">
                <a16:creationId xmlns:a16="http://schemas.microsoft.com/office/drawing/2014/main" id="{4A5A5448-742B-4749-B7B2-4A0981FC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515225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11" name="item-2">
            <a:extLst xmlns:a="http://schemas.openxmlformats.org/drawingml/2006/main">
              <a:ext uri="{FF2B5EF4-FFF2-40B4-BE49-F238E27FC236}">
                <a16:creationId xmlns:a16="http://schemas.microsoft.com/office/drawing/2014/main" id="{DC62D47A-F47A-478F-8C50-8E7A33D3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343775"/>
            <a:ext cx="128682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0C0B1D"/>
                </a:solidFill>
                <a:latin typeface="Nimbus Sans"/>
                <a:ea typeface="Nimbus Sans"/>
                <a:cs typeface="Nimbus Sans"/>
              </a:defRPr>
            </a:pPr>
            <a:r>
              <a:rPr sz="2850" b="0">
                <a:solidFill>
                  <a:srgbClr val="0C0B1D"/>
                </a:solidFill>
                <a:latin typeface="Nimbus Sans"/>
                <a:ea typeface="Nimbus Sans"/>
                <a:cs typeface="Nimbus Sans"/>
              </a:rPr>
              <a:t>Outcomes that can be measured after hiring</a:t>
            </a:r>
          </a:p>
        </p:txBody>
      </p:sp>
    </p:spTree>
    <p:extLst>
      <p:ext uri="{BB962C8B-B14F-4D97-AF65-F5344CB8AC3E}">
        <p14:creationId xmlns:p14="http://schemas.microsoft.com/office/powerpoint/2010/main" val="12178610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C0B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b72489442f4c36"/>
          <a:srcRect xmlns:a="http://schemas.openxmlformats.org/drawingml/2006/main" l="0" t="69" r="0" b="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9525" cy="9525000"/>
          </a:xfrm>
          <a:prstGeom xmlns:a="http://schemas.openxmlformats.org/drawingml/2006/main" prst="rect">
            <a:avLst/>
          </a:prstGeom>
        </p:spPr>
      </p:pic>
      <p:sp>
        <p:nvSpPr>
          <p:cNvPr id="2" name="photo-legibility-overlay">
            <a:extLst xmlns:a="http://schemas.openxmlformats.org/drawingml/2006/main">
              <a:ext uri="{FF2B5EF4-FFF2-40B4-BE49-F238E27FC236}">
                <a16:creationId xmlns:a16="http://schemas.microsoft.com/office/drawing/2014/main" id="{B9A713A0-3676-4B59-AE18-B68A7613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9525" cy="952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B1D">
              <a:alpha val="58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18D218D1-B05D-4EDB-9128-E65ECA2D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953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MIYAR</a:t>
            </a:r>
          </a:p>
        </p:txBody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7BEA802B-2422-4834-8E6C-ABAD2142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84872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E1E7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D7E1E7"/>
                </a:solidFill>
                <a:latin typeface="Nimbus Sans"/>
                <a:ea typeface="Nimbus Sans"/>
                <a:cs typeface="Nimbus Sans"/>
              </a:rPr>
              <a:t>4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ECBE6A3-0956-4CF0-9701-63B1BE09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76375"/>
            <a:ext cx="131540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4350" b="1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The solution: a connected position record</a:t>
            </a:r>
          </a:p>
        </p:txBody>
      </p:sp>
      <p:sp>
        <p:nvSpPr>
          <p:cNvPr id="6" name="title-rule">
            <a:extLst xmlns:a="http://schemas.openxmlformats.org/drawingml/2006/main">
              <a:ext uri="{FF2B5EF4-FFF2-40B4-BE49-F238E27FC236}">
                <a16:creationId xmlns:a16="http://schemas.microsoft.com/office/drawing/2014/main" id="{4C21938F-B671-483C-A484-3EFEBF68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43225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7" name="statement">
            <a:extLst xmlns:a="http://schemas.openxmlformats.org/drawingml/2006/main">
              <a:ext uri="{FF2B5EF4-FFF2-40B4-BE49-F238E27FC236}">
                <a16:creationId xmlns:a16="http://schemas.microsoft.com/office/drawing/2014/main" id="{134882D4-620F-4101-A031-E68F0753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131540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3750" b="1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Miyar brings the decision evidence into one workflow</a:t>
            </a:r>
          </a:p>
        </p:txBody>
      </p:sp>
      <p:sp>
        <p:nvSpPr>
          <p:cNvPr id="8" name="item-rule-0">
            <a:extLst xmlns:a="http://schemas.openxmlformats.org/drawingml/2006/main">
              <a:ext uri="{FF2B5EF4-FFF2-40B4-BE49-F238E27FC236}">
                <a16:creationId xmlns:a16="http://schemas.microsoft.com/office/drawing/2014/main" id="{30D5F288-2859-4DCF-BB65-C65A53D5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10225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9" name="item-0">
            <a:extLst xmlns:a="http://schemas.openxmlformats.org/drawingml/2006/main">
              <a:ext uri="{FF2B5EF4-FFF2-40B4-BE49-F238E27FC236}">
                <a16:creationId xmlns:a16="http://schemas.microsoft.com/office/drawing/2014/main" id="{1036656B-E0DA-482B-8098-0DD76E86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438775"/>
            <a:ext cx="128682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2850" b="0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Business need and occupation reference</a:t>
            </a:r>
          </a:p>
        </p:txBody>
      </p:sp>
      <p:sp>
        <p:nvSpPr>
          <p:cNvPr id="10" name="item-rule-1">
            <a:extLst xmlns:a="http://schemas.openxmlformats.org/drawingml/2006/main">
              <a:ext uri="{FF2B5EF4-FFF2-40B4-BE49-F238E27FC236}">
                <a16:creationId xmlns:a16="http://schemas.microsoft.com/office/drawing/2014/main" id="{5E3751F0-CD94-4733-92E6-BED57332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562725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11" name="item-1">
            <a:extLst xmlns:a="http://schemas.openxmlformats.org/drawingml/2006/main">
              <a:ext uri="{FF2B5EF4-FFF2-40B4-BE49-F238E27FC236}">
                <a16:creationId xmlns:a16="http://schemas.microsoft.com/office/drawing/2014/main" id="{C9EDA629-424F-4C61-80BE-2317683C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391275"/>
            <a:ext cx="128682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2850" b="0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Job description and evaluation result</a:t>
            </a:r>
          </a:p>
        </p:txBody>
      </p:sp>
      <p:sp>
        <p:nvSpPr>
          <p:cNvPr id="12" name="item-rule-2">
            <a:extLst xmlns:a="http://schemas.openxmlformats.org/drawingml/2006/main">
              <a:ext uri="{FF2B5EF4-FFF2-40B4-BE49-F238E27FC236}">
                <a16:creationId xmlns:a16="http://schemas.microsoft.com/office/drawing/2014/main" id="{E9C743AB-05B9-429F-A708-1662FE758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515225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13" name="item-2">
            <a:extLst xmlns:a="http://schemas.openxmlformats.org/drawingml/2006/main">
              <a:ext uri="{FF2B5EF4-FFF2-40B4-BE49-F238E27FC236}">
                <a16:creationId xmlns:a16="http://schemas.microsoft.com/office/drawing/2014/main" id="{1A0B48E0-ECFB-487E-9328-15D2285D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343775"/>
            <a:ext cx="128682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2850" b="0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Institutional reviews tied to the revision</a:t>
            </a:r>
          </a:p>
        </p:txBody>
      </p:sp>
    </p:spTree>
    <p:extLst>
      <p:ext uri="{BB962C8B-B14F-4D97-AF65-F5344CB8AC3E}">
        <p14:creationId xmlns:p14="http://schemas.microsoft.com/office/powerpoint/2010/main" val="4254611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BB4B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brand">
            <a:extLst xmlns:a="http://schemas.openxmlformats.org/drawingml/2006/main">
              <a:ext uri="{FF2B5EF4-FFF2-40B4-BE49-F238E27FC236}">
                <a16:creationId xmlns:a16="http://schemas.microsoft.com/office/drawing/2014/main" id="{CECCF96B-2720-4104-A5A1-FA7EEF48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953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MIYAR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FA5D6999-7A00-447C-897F-6798F86B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84872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E1E7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D7E1E7"/>
                </a:solidFill>
                <a:latin typeface="Nimbus Sans"/>
                <a:ea typeface="Nimbus Sans"/>
                <a:cs typeface="Nimbus Sans"/>
              </a:rPr>
              <a:t>5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92B5BCD-7FC7-4F8F-B960-37764548A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76375"/>
            <a:ext cx="131540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4350" b="1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How Miyar works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7E284F2D-4667-48E1-82B0-6D89A6AA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43225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B1D"/>
          </a:solidFill>
          <a:ln xmlns:a="http://schemas.openxmlformats.org/drawingml/2006/main" w="0">
            <a:noFill/>
          </a:ln>
        </p:spPr>
      </p:sp>
      <p:sp>
        <p:nvSpPr>
          <p:cNvPr id="5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CC26DBD4-BB65-406C-8F3F-6BBE5359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8140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C0B1D"/>
                </a:solidFill>
                <a:latin typeface="Nimbus Sans"/>
                <a:ea typeface="Nimbus Sans"/>
                <a:cs typeface="Nimbus Sans"/>
              </a:defRPr>
            </a:pPr>
            <a:r>
              <a:rPr sz="4350" b="1">
                <a:solidFill>
                  <a:srgbClr val="0C0B1D"/>
                </a:solidFill>
                <a:latin typeface="Nimbus Sans"/>
                <a:ea typeface="Nimbus Sans"/>
                <a:cs typeface="Nimbus Sans"/>
              </a:rPr>
              <a:t>1</a:t>
            </a:r>
          </a:p>
        </p:txBody>
      </p:sp>
      <p:sp>
        <p:nvSpPr>
          <p:cNvPr id="6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02B1D2EC-AC6C-4B65-9B59-09B58A13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609975"/>
            <a:ext cx="4953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2700" b="1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Request</a:t>
            </a:r>
          </a:p>
        </p:txBody>
      </p:sp>
      <p:sp>
        <p:nvSpPr>
          <p:cNvPr id="7" name="step-body-0">
            <a:extLst xmlns:a="http://schemas.openxmlformats.org/drawingml/2006/main">
              <a:ext uri="{FF2B5EF4-FFF2-40B4-BE49-F238E27FC236}">
                <a16:creationId xmlns:a16="http://schemas.microsoft.com/office/drawing/2014/main" id="{3732EEE3-ED31-47DB-A960-05D0E491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58152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Business case, alternatives and scope</a:t>
            </a:r>
          </a:p>
        </p:txBody>
      </p:sp>
      <p:sp>
        <p:nvSpPr>
          <p:cNvPr id="8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F3E4B163-9A77-49B0-85DF-DB477118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8140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C0B1D"/>
                </a:solidFill>
                <a:latin typeface="Nimbus Sans"/>
                <a:ea typeface="Nimbus Sans"/>
                <a:cs typeface="Nimbus Sans"/>
              </a:defRPr>
            </a:pPr>
            <a:r>
              <a:rPr sz="4350" b="1">
                <a:solidFill>
                  <a:srgbClr val="0C0B1D"/>
                </a:solidFill>
                <a:latin typeface="Nimbus Sans"/>
                <a:ea typeface="Nimbus Sans"/>
                <a:cs typeface="Nimbus Sans"/>
              </a:rPr>
              <a:t>2</a:t>
            </a:r>
          </a:p>
        </p:txBody>
      </p:sp>
      <p:sp>
        <p:nvSpPr>
          <p:cNvPr id="9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427015BD-E0D0-434F-8826-06FB95FB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609975"/>
            <a:ext cx="4953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2700" b="1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Design</a:t>
            </a:r>
          </a:p>
        </p:txBody>
      </p:sp>
      <p:sp>
        <p:nvSpPr>
          <p:cNvPr id="10" name="step-body-1">
            <a:extLst xmlns:a="http://schemas.openxmlformats.org/drawingml/2006/main">
              <a:ext uri="{FF2B5EF4-FFF2-40B4-BE49-F238E27FC236}">
                <a16:creationId xmlns:a16="http://schemas.microsoft.com/office/drawing/2014/main" id="{9659F8E2-5952-4AB4-A5F0-BA0008200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58152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Reference, description and competencies</a:t>
            </a:r>
          </a:p>
        </p:txBody>
      </p:sp>
      <p:sp>
        <p:nvSpPr>
          <p:cNvPr id="11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63C10041-B639-4228-AE14-962CAC2E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1025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C0B1D"/>
                </a:solidFill>
                <a:latin typeface="Nimbus Sans"/>
                <a:ea typeface="Nimbus Sans"/>
                <a:cs typeface="Nimbus Sans"/>
              </a:defRPr>
            </a:pPr>
            <a:r>
              <a:rPr sz="4350" b="1">
                <a:solidFill>
                  <a:srgbClr val="0C0B1D"/>
                </a:solidFill>
                <a:latin typeface="Nimbus Sans"/>
                <a:ea typeface="Nimbus Sans"/>
                <a:cs typeface="Nimbus Sans"/>
              </a:rPr>
              <a:t>3</a:t>
            </a:r>
          </a:p>
        </p:txBody>
      </p:sp>
      <p:sp>
        <p:nvSpPr>
          <p:cNvPr id="12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5DDF56BD-71AD-4936-8A57-CE6BF8EE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838825"/>
            <a:ext cx="4953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2700" b="1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Evaluate</a:t>
            </a:r>
          </a:p>
        </p:txBody>
      </p:sp>
      <p:sp>
        <p:nvSpPr>
          <p:cNvPr id="13" name="step-body-2">
            <a:extLst xmlns:a="http://schemas.openxmlformats.org/drawingml/2006/main">
              <a:ext uri="{FF2B5EF4-FFF2-40B4-BE49-F238E27FC236}">
                <a16:creationId xmlns:a16="http://schemas.microsoft.com/office/drawing/2014/main" id="{CA3119BE-D709-4D80-B47B-B6C7CFFC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81037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Score, grade and evaluation evidence</a:t>
            </a:r>
          </a:p>
        </p:txBody>
      </p:sp>
      <p:sp>
        <p:nvSpPr>
          <p:cNvPr id="14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EDCF0EF8-8E46-4E17-A328-323C7962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81025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C0B1D"/>
                </a:solidFill>
                <a:latin typeface="Nimbus Sans"/>
                <a:ea typeface="Nimbus Sans"/>
                <a:cs typeface="Nimbus Sans"/>
              </a:defRPr>
            </a:pPr>
            <a:r>
              <a:rPr sz="4350" b="1">
                <a:solidFill>
                  <a:srgbClr val="0C0B1D"/>
                </a:solidFill>
                <a:latin typeface="Nimbus Sans"/>
                <a:ea typeface="Nimbus Sans"/>
                <a:cs typeface="Nimbus Sans"/>
              </a:rPr>
              <a:t>4</a:t>
            </a:r>
          </a:p>
        </p:txBody>
      </p:sp>
      <p:sp>
        <p:nvSpPr>
          <p:cNvPr id="15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976C5CD8-A75C-4651-BFCD-641C8B01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838825"/>
            <a:ext cx="4953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2700" b="1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Approve</a:t>
            </a:r>
          </a:p>
        </p:txBody>
      </p:sp>
      <p:sp>
        <p:nvSpPr>
          <p:cNvPr id="16" name="step-body-3">
            <a:extLst xmlns:a="http://schemas.openxmlformats.org/drawingml/2006/main">
              <a:ext uri="{FF2B5EF4-FFF2-40B4-BE49-F238E27FC236}">
                <a16:creationId xmlns:a16="http://schemas.microsoft.com/office/drawing/2014/main" id="{486B65DA-ABFF-47F3-9052-DF54DDCA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681037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Four stages and a documented package</a:t>
            </a:r>
          </a:p>
        </p:txBody>
      </p:sp>
    </p:spTree>
    <p:extLst>
      <p:ext uri="{BB962C8B-B14F-4D97-AF65-F5344CB8AC3E}">
        <p14:creationId xmlns:p14="http://schemas.microsoft.com/office/powerpoint/2010/main" val="17899841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rand">
            <a:extLst xmlns:a="http://schemas.openxmlformats.org/drawingml/2006/main">
              <a:ext uri="{FF2B5EF4-FFF2-40B4-BE49-F238E27FC236}">
                <a16:creationId xmlns:a16="http://schemas.microsoft.com/office/drawing/2014/main" id="{C2A2930E-F945-4F94-B4C2-FABD2FA2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953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0C0B1D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0C0B1D"/>
                </a:solidFill>
                <a:latin typeface="Nimbus Sans"/>
                <a:ea typeface="Nimbus Sans"/>
                <a:cs typeface="Nimbus Sans"/>
              </a:rPr>
              <a:t>MIYAR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FB5EB66D-2ADE-4AB0-9429-721BA688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84872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C5262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C5262"/>
                </a:solidFill>
                <a:latin typeface="Nimbus Sans"/>
                <a:ea typeface="Nimbus Sans"/>
                <a:cs typeface="Nimbus Sans"/>
              </a:rPr>
              <a:t>6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8FFE081-649A-4860-B901-4B0C6150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76375"/>
            <a:ext cx="131540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C0B1D"/>
                </a:solidFill>
                <a:latin typeface="Nimbus Sans"/>
                <a:ea typeface="Nimbus Sans"/>
                <a:cs typeface="Nimbus Sans"/>
              </a:defRPr>
            </a:pPr>
            <a:r>
              <a:rPr sz="4350" b="1">
                <a:solidFill>
                  <a:srgbClr val="0C0B1D"/>
                </a:solidFill>
                <a:latin typeface="Nimbus Sans"/>
                <a:ea typeface="Nimbus Sans"/>
                <a:cs typeface="Nimbus Sans"/>
              </a:rPr>
              <a:t>The product: a reviewable position record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8C7EA961-C05D-45A1-88A0-973CC462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43225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5" name="record-title">
            <a:extLst xmlns:a="http://schemas.openxmlformats.org/drawingml/2006/main">
              <a:ext uri="{FF2B5EF4-FFF2-40B4-BE49-F238E27FC236}">
                <a16:creationId xmlns:a16="http://schemas.microsoft.com/office/drawing/2014/main" id="{D427000C-6CC8-4B30-88D4-637A1AC4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76625"/>
            <a:ext cx="131540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C0B1D"/>
                </a:solidFill>
                <a:latin typeface="Nimbus Sans"/>
                <a:ea typeface="Nimbus Sans"/>
                <a:cs typeface="Nimbus Sans"/>
              </a:defRPr>
            </a:pPr>
            <a:r>
              <a:rPr sz="3600" b="1">
                <a:solidFill>
                  <a:srgbClr val="0C0B1D"/>
                </a:solidFill>
                <a:latin typeface="Nimbus Sans"/>
                <a:ea typeface="Nimbus Sans"/>
                <a:cs typeface="Nimbus Sans"/>
              </a:rPr>
              <a:t>Mechanical engineer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1047750" y="4591050"/>
          <a:ext xmlns:a="http://schemas.openxmlformats.org/drawingml/2006/main" cx="13154025" cy="31813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200525"/>
                <a:gridCol w="8953500"/>
              </a:tblGrid>
              <a:tr h="795338">
                <a:tc>
                  <a:txBody>
                    <a:bodyPr lIns="171450" tIns="95250" rIns="171450" bIns="95250"/>
                    <a:lstStyle/>
                    <a:p>
                      <a:pPr algn="l"/>
                      <a:r>
                        <a:rPr sz="2250" b="1">
                          <a:solidFill>
                            <a:srgbClr val="0C0B1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Occupation code</a:t>
                      </a:r>
                    </a:p>
                  </a:txBody>
                  <a:tcPr marL="91440" marR="91440" marT="45720" marB="45720" anchor="ctr">
                    <a:solidFill>
                      <a:srgbClr val="E7F2F3"/>
                    </a:solidFill>
                  </a:tcPr>
                </a:tc>
                <a:tc>
                  <a:txBody>
                    <a:bodyPr lIns="171450" tIns="95250" rIns="171450" bIns="95250"/>
                    <a:lstStyle/>
                    <a:p>
                      <a:pPr algn="l"/>
                      <a:r>
                        <a:rPr sz="2250" b="0">
                          <a:solidFill>
                            <a:srgbClr val="0C0B1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214401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  <a:tr h="795338">
                <a:tc>
                  <a:txBody>
                    <a:bodyPr lIns="171450" tIns="95250" rIns="171450" bIns="95250"/>
                    <a:lstStyle/>
                    <a:p>
                      <a:pPr algn="l"/>
                      <a:r>
                        <a:rPr sz="2250" b="1">
                          <a:solidFill>
                            <a:srgbClr val="0C0B1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Education specialization</a:t>
                      </a:r>
                    </a:p>
                  </a:txBody>
                  <a:tcPr marL="91440" marR="91440" marT="45720" marB="45720" anchor="ctr">
                    <a:solidFill>
                      <a:srgbClr val="E7F2F3"/>
                    </a:solidFill>
                  </a:tcPr>
                </a:tc>
                <a:tc>
                  <a:txBody>
                    <a:bodyPr lIns="171450" tIns="95250" rIns="171450" bIns="95250"/>
                    <a:lstStyle/>
                    <a:p>
                      <a:pPr algn="l"/>
                      <a:r>
                        <a:rPr sz="2250" b="0">
                          <a:solidFill>
                            <a:srgbClr val="0C0B1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071501  Mechanical engineering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  <a:tr h="795338">
                <a:tc>
                  <a:txBody>
                    <a:bodyPr lIns="171450" tIns="95250" rIns="171450" bIns="95250"/>
                    <a:lstStyle/>
                    <a:p>
                      <a:pPr algn="l"/>
                      <a:r>
                        <a:rPr sz="2250" b="1">
                          <a:solidFill>
                            <a:srgbClr val="0C0B1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Record content</a:t>
                      </a:r>
                    </a:p>
                  </a:txBody>
                  <a:tcPr marL="91440" marR="91440" marT="45720" marB="45720" anchor="ctr">
                    <a:solidFill>
                      <a:srgbClr val="E7F2F3"/>
                    </a:solidFill>
                  </a:tcPr>
                </a:tc>
                <a:tc>
                  <a:txBody>
                    <a:bodyPr lIns="171450" tIns="95250" rIns="171450" bIns="95250"/>
                    <a:lstStyle/>
                    <a:p>
                      <a:pPr algn="l"/>
                      <a:r>
                        <a:rPr sz="2250" b="0">
                          <a:solidFill>
                            <a:srgbClr val="0C0B1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Purpose, responsibilities, authority and requirements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  <a:tr h="795338">
                <a:tc>
                  <a:txBody>
                    <a:bodyPr lIns="171450" tIns="95250" rIns="171450" bIns="95250"/>
                    <a:lstStyle/>
                    <a:p>
                      <a:pPr algn="l"/>
                      <a:r>
                        <a:rPr sz="2250" b="1">
                          <a:solidFill>
                            <a:srgbClr val="0C0B1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Evaluation result</a:t>
                      </a:r>
                    </a:p>
                  </a:txBody>
                  <a:tcPr marL="91440" marR="91440" marT="45720" marB="45720" anchor="ctr">
                    <a:solidFill>
                      <a:srgbClr val="E7F2F3"/>
                    </a:solidFill>
                  </a:tcPr>
                </a:tc>
                <a:tc>
                  <a:txBody>
                    <a:bodyPr lIns="171450" tIns="95250" rIns="171450" bIns="95250"/>
                    <a:lstStyle/>
                    <a:p>
                      <a:pPr algn="l"/>
                      <a:r>
                        <a:rPr sz="2250" b="0">
                          <a:solidFill>
                            <a:srgbClr val="0C0B1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Grade and rationale tied to the reviewed revision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7" name="slide-note">
            <a:extLst xmlns:a="http://schemas.openxmlformats.org/drawingml/2006/main">
              <a:ext uri="{FF2B5EF4-FFF2-40B4-BE49-F238E27FC236}">
                <a16:creationId xmlns:a16="http://schemas.microsoft.com/office/drawing/2014/main" id="{F8A23B1C-781B-4B19-AA29-F3B68AEC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8448675"/>
            <a:ext cx="12249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C5262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C5262"/>
                </a:solidFill>
                <a:latin typeface="Nimbus Sans"/>
                <a:ea typeface="Nimbus Sans"/>
                <a:cs typeface="Nimbus Sans"/>
              </a:rPr>
              <a:t>Reference example. Importing a code does not approve a position.</a:t>
            </a:r>
          </a:p>
        </p:txBody>
      </p:sp>
    </p:spTree>
    <p:extLst>
      <p:ext uri="{BB962C8B-B14F-4D97-AF65-F5344CB8AC3E}">
        <p14:creationId xmlns:p14="http://schemas.microsoft.com/office/powerpoint/2010/main" val="8430283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C0B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brand">
            <a:extLst xmlns:a="http://schemas.openxmlformats.org/drawingml/2006/main">
              <a:ext uri="{FF2B5EF4-FFF2-40B4-BE49-F238E27FC236}">
                <a16:creationId xmlns:a16="http://schemas.microsoft.com/office/drawing/2014/main" id="{DA93F7EB-F93A-4DE2-A235-89358F8F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953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MIYAR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88699CA1-E4C4-4594-A067-EC6351BB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84872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E1E7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D7E1E7"/>
                </a:solidFill>
                <a:latin typeface="Nimbus Sans"/>
                <a:ea typeface="Nimbus Sans"/>
                <a:cs typeface="Nimbus Sans"/>
              </a:rPr>
              <a:t>7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CA7C4B6-00FB-41B2-A518-B543890B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76375"/>
            <a:ext cx="131540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4350" b="1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Clear responsibilities and measurable outcomes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360DBCDD-CD3F-4549-8A30-22A3D026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43225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5" name="column-title-0">
            <a:extLst xmlns:a="http://schemas.openxmlformats.org/drawingml/2006/main">
              <a:ext uri="{FF2B5EF4-FFF2-40B4-BE49-F238E27FC236}">
                <a16:creationId xmlns:a16="http://schemas.microsoft.com/office/drawing/2014/main" id="{EC22026F-96AF-444D-89FC-C70FBBAF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62350"/>
            <a:ext cx="6057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BB4BD"/>
                </a:solidFill>
                <a:latin typeface="Nimbus Sans"/>
                <a:ea typeface="Nimbus Sans"/>
                <a:cs typeface="Nimbus Sans"/>
              </a:defRPr>
            </a:pPr>
            <a:r>
              <a:rPr sz="2850" b="1">
                <a:solidFill>
                  <a:srgbClr val="1BB4BD"/>
                </a:solidFill>
                <a:latin typeface="Nimbus Sans"/>
                <a:ea typeface="Nimbus Sans"/>
                <a:cs typeface="Nimbus Sans"/>
              </a:rPr>
              <a:t>Proposed KPIs</a:t>
            </a:r>
          </a:p>
        </p:txBody>
      </p:sp>
      <p:sp>
        <p:nvSpPr>
          <p:cNvPr id="6" name="item-rule-0">
            <a:extLst xmlns:a="http://schemas.openxmlformats.org/drawingml/2006/main">
              <a:ext uri="{FF2B5EF4-FFF2-40B4-BE49-F238E27FC236}">
                <a16:creationId xmlns:a16="http://schemas.microsoft.com/office/drawing/2014/main" id="{6C2E11B2-22C4-4692-B1A4-595B39BE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48225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7" name="item-0">
            <a:extLst xmlns:a="http://schemas.openxmlformats.org/drawingml/2006/main">
              <a:ext uri="{FF2B5EF4-FFF2-40B4-BE49-F238E27FC236}">
                <a16:creationId xmlns:a16="http://schemas.microsoft.com/office/drawing/2014/main" id="{10EDEC55-302E-4605-A939-8809A2B79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76775"/>
            <a:ext cx="57721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2550" b="0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Reduce equipment downtime by 20%</a:t>
            </a:r>
          </a:p>
        </p:txBody>
      </p:sp>
      <p:sp>
        <p:nvSpPr>
          <p:cNvPr id="8" name="item-rule-1">
            <a:extLst xmlns:a="http://schemas.openxmlformats.org/drawingml/2006/main">
              <a:ext uri="{FF2B5EF4-FFF2-40B4-BE49-F238E27FC236}">
                <a16:creationId xmlns:a16="http://schemas.microsoft.com/office/drawing/2014/main" id="{CF06D04B-91F3-4C4B-80EF-07A73260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5785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9" name="item-1">
            <a:extLst xmlns:a="http://schemas.openxmlformats.org/drawingml/2006/main">
              <a:ext uri="{FF2B5EF4-FFF2-40B4-BE49-F238E27FC236}">
                <a16:creationId xmlns:a16="http://schemas.microsoft.com/office/drawing/2014/main" id="{7E3974CC-DA09-4578-9759-F766AC84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486400"/>
            <a:ext cx="57721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2550" b="0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Complete 95% of planned maintenance</a:t>
            </a:r>
          </a:p>
        </p:txBody>
      </p:sp>
      <p:sp>
        <p:nvSpPr>
          <p:cNvPr id="10" name="item-rule-2">
            <a:extLst xmlns:a="http://schemas.openxmlformats.org/drawingml/2006/main">
              <a:ext uri="{FF2B5EF4-FFF2-40B4-BE49-F238E27FC236}">
                <a16:creationId xmlns:a16="http://schemas.microsoft.com/office/drawing/2014/main" id="{A23304E9-873F-4B05-AF9B-3C6FD0DD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467475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11" name="item-2">
            <a:extLst xmlns:a="http://schemas.openxmlformats.org/drawingml/2006/main">
              <a:ext uri="{FF2B5EF4-FFF2-40B4-BE49-F238E27FC236}">
                <a16:creationId xmlns:a16="http://schemas.microsoft.com/office/drawing/2014/main" id="{CB752D4B-4586-468A-97ED-8FE1BE40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296025"/>
            <a:ext cx="57721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2550" b="0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Document every maintenance report</a:t>
            </a:r>
          </a:p>
        </p:txBody>
      </p:sp>
      <p:sp>
        <p:nvSpPr>
          <p:cNvPr id="12" name="column-title-1">
            <a:extLst xmlns:a="http://schemas.openxmlformats.org/drawingml/2006/main">
              <a:ext uri="{FF2B5EF4-FFF2-40B4-BE49-F238E27FC236}">
                <a16:creationId xmlns:a16="http://schemas.microsoft.com/office/drawing/2014/main" id="{DA29FF41-8AA7-4329-8149-D4C310A3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562350"/>
            <a:ext cx="6057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BB4BD"/>
                </a:solidFill>
                <a:latin typeface="Nimbus Sans"/>
                <a:ea typeface="Nimbus Sans"/>
                <a:cs typeface="Nimbus Sans"/>
              </a:defRPr>
            </a:pPr>
            <a:r>
              <a:rPr sz="2850" b="1">
                <a:solidFill>
                  <a:srgbClr val="1BB4BD"/>
                </a:solidFill>
                <a:latin typeface="Nimbus Sans"/>
                <a:ea typeface="Nimbus Sans"/>
                <a:cs typeface="Nimbus Sans"/>
              </a:rPr>
              <a:t>RACI example for a maintenance plan</a:t>
            </a:r>
          </a:p>
        </p:txBody>
      </p:sp>
      <p:sp>
        <p:nvSpPr>
          <p:cNvPr id="13" name="item-rule-0">
            <a:extLst xmlns:a="http://schemas.openxmlformats.org/drawingml/2006/main">
              <a:ext uri="{FF2B5EF4-FFF2-40B4-BE49-F238E27FC236}">
                <a16:creationId xmlns:a16="http://schemas.microsoft.com/office/drawing/2014/main" id="{4E2A21E1-5D76-4346-A153-98759A775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848225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14" name="item-0">
            <a:extLst xmlns:a="http://schemas.openxmlformats.org/drawingml/2006/main">
              <a:ext uri="{FF2B5EF4-FFF2-40B4-BE49-F238E27FC236}">
                <a16:creationId xmlns:a16="http://schemas.microsoft.com/office/drawing/2014/main" id="{93F7746E-E844-408A-8730-312F2105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76775"/>
            <a:ext cx="57721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2550" b="0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R  Mechanical engineer executes</a:t>
            </a:r>
          </a:p>
        </p:txBody>
      </p:sp>
      <p:sp>
        <p:nvSpPr>
          <p:cNvPr id="15" name="item-rule-1">
            <a:extLst xmlns:a="http://schemas.openxmlformats.org/drawingml/2006/main">
              <a:ext uri="{FF2B5EF4-FFF2-40B4-BE49-F238E27FC236}">
                <a16:creationId xmlns:a16="http://schemas.microsoft.com/office/drawing/2014/main" id="{2193B865-EFEF-4A99-8581-76A6890E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65785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16" name="item-1">
            <a:extLst xmlns:a="http://schemas.openxmlformats.org/drawingml/2006/main">
              <a:ext uri="{FF2B5EF4-FFF2-40B4-BE49-F238E27FC236}">
                <a16:creationId xmlns:a16="http://schemas.microsoft.com/office/drawing/2014/main" id="{7CC40588-9C27-4B73-A2C2-76F1F1298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486400"/>
            <a:ext cx="57721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2550" b="0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A  Engineering manager is accountable</a:t>
            </a:r>
          </a:p>
        </p:txBody>
      </p:sp>
      <p:sp>
        <p:nvSpPr>
          <p:cNvPr id="17" name="item-rule-2">
            <a:extLst xmlns:a="http://schemas.openxmlformats.org/drawingml/2006/main">
              <a:ext uri="{FF2B5EF4-FFF2-40B4-BE49-F238E27FC236}">
                <a16:creationId xmlns:a16="http://schemas.microsoft.com/office/drawing/2014/main" id="{49DEB5C3-2E78-429C-B247-729C1C6D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467475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18" name="item-2">
            <a:extLst xmlns:a="http://schemas.openxmlformats.org/drawingml/2006/main">
              <a:ext uri="{FF2B5EF4-FFF2-40B4-BE49-F238E27FC236}">
                <a16:creationId xmlns:a16="http://schemas.microsoft.com/office/drawing/2014/main" id="{B5F93B66-C21B-4141-BC47-E700D3FA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6296025"/>
            <a:ext cx="57721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2550" b="0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C  Operations and safety are consulted</a:t>
            </a:r>
          </a:p>
        </p:txBody>
      </p:sp>
      <p:sp>
        <p:nvSpPr>
          <p:cNvPr id="19" name="item-rule-3">
            <a:extLst xmlns:a="http://schemas.openxmlformats.org/drawingml/2006/main">
              <a:ext uri="{FF2B5EF4-FFF2-40B4-BE49-F238E27FC236}">
                <a16:creationId xmlns:a16="http://schemas.microsoft.com/office/drawing/2014/main" id="{3F973416-46A2-4098-8B2E-FCABD7682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727710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20" name="item-3">
            <a:extLst xmlns:a="http://schemas.openxmlformats.org/drawingml/2006/main">
              <a:ext uri="{FF2B5EF4-FFF2-40B4-BE49-F238E27FC236}">
                <a16:creationId xmlns:a16="http://schemas.microsoft.com/office/drawing/2014/main" id="{26EDE390-4726-4A48-9DDF-6F96ABE5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7105650"/>
            <a:ext cx="57721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2550" b="0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I  Asset owner is informed</a:t>
            </a:r>
          </a:p>
        </p:txBody>
      </p:sp>
      <p:sp>
        <p:nvSpPr>
          <p:cNvPr id="21" name="slide-note">
            <a:extLst xmlns:a="http://schemas.openxmlformats.org/drawingml/2006/main">
              <a:ext uri="{FF2B5EF4-FFF2-40B4-BE49-F238E27FC236}">
                <a16:creationId xmlns:a16="http://schemas.microsoft.com/office/drawing/2014/main" id="{BCAADF42-2614-4D5A-ADC7-071AED37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8448675"/>
            <a:ext cx="12249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E1E7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D7E1E7"/>
                </a:solidFill>
                <a:latin typeface="Nimbus Sans"/>
                <a:ea typeface="Nimbus Sans"/>
                <a:cs typeface="Nimbus Sans"/>
              </a:rPr>
              <a:t>Illustrative targets and responsibilities, not achieved platform results.</a:t>
            </a:r>
          </a:p>
        </p:txBody>
      </p:sp>
    </p:spTree>
    <p:extLst>
      <p:ext uri="{BB962C8B-B14F-4D97-AF65-F5344CB8AC3E}">
        <p14:creationId xmlns:p14="http://schemas.microsoft.com/office/powerpoint/2010/main" val="8173099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brand">
            <a:extLst xmlns:a="http://schemas.openxmlformats.org/drawingml/2006/main">
              <a:ext uri="{FF2B5EF4-FFF2-40B4-BE49-F238E27FC236}">
                <a16:creationId xmlns:a16="http://schemas.microsoft.com/office/drawing/2014/main" id="{F235A592-C0C7-452B-8D3A-F467F6AD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953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0C0B1D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0C0B1D"/>
                </a:solidFill>
                <a:latin typeface="Nimbus Sans"/>
                <a:ea typeface="Nimbus Sans"/>
                <a:cs typeface="Nimbus Sans"/>
              </a:rPr>
              <a:t>MIYAR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072144F1-B6F8-4FEC-91C7-8C00BFE11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84872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C5262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C5262"/>
                </a:solidFill>
                <a:latin typeface="Nimbus Sans"/>
                <a:ea typeface="Nimbus Sans"/>
                <a:cs typeface="Nimbus Sans"/>
              </a:rPr>
              <a:t>8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27A2677-6310-4459-95E5-49B2CF6C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76375"/>
            <a:ext cx="131540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C0B1D"/>
                </a:solidFill>
                <a:latin typeface="Nimbus Sans"/>
                <a:ea typeface="Nimbus Sans"/>
                <a:cs typeface="Nimbus Sans"/>
              </a:defRPr>
            </a:pPr>
            <a:r>
              <a:rPr sz="4350" b="1">
                <a:solidFill>
                  <a:srgbClr val="0C0B1D"/>
                </a:solidFill>
                <a:latin typeface="Nimbus Sans"/>
                <a:ea typeface="Nimbus Sans"/>
                <a:cs typeface="Nimbus Sans"/>
              </a:rPr>
              <a:t>Governance: four specialist reviews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CCD1DD3C-F83D-4BCA-B49F-BD90CD1A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43225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5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DA8CFE8D-3FB7-44AF-861E-7DA656CC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8140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BB4BD"/>
                </a:solidFill>
                <a:latin typeface="Nimbus Sans"/>
                <a:ea typeface="Nimbus Sans"/>
                <a:cs typeface="Nimbus Sans"/>
              </a:defRPr>
            </a:pPr>
            <a:r>
              <a:rPr sz="4350" b="1">
                <a:solidFill>
                  <a:srgbClr val="1BB4BD"/>
                </a:solidFill>
                <a:latin typeface="Nimbus Sans"/>
                <a:ea typeface="Nimbus Sans"/>
                <a:cs typeface="Nimbus Sans"/>
              </a:rPr>
              <a:t>1</a:t>
            </a:r>
          </a:p>
        </p:txBody>
      </p:sp>
      <p:sp>
        <p:nvSpPr>
          <p:cNvPr id="6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66738DCE-953C-495C-821A-C92FB769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609975"/>
            <a:ext cx="4953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C0B1D"/>
                </a:solidFill>
                <a:latin typeface="Nimbus Sans"/>
                <a:ea typeface="Nimbus Sans"/>
                <a:cs typeface="Nimbus Sans"/>
              </a:defRPr>
            </a:pPr>
            <a:r>
              <a:rPr sz="2700" b="1">
                <a:solidFill>
                  <a:srgbClr val="0C0B1D"/>
                </a:solidFill>
                <a:latin typeface="Nimbus Sans"/>
                <a:ea typeface="Nimbus Sans"/>
                <a:cs typeface="Nimbus Sans"/>
              </a:rPr>
              <a:t>Organization development</a:t>
            </a:r>
          </a:p>
        </p:txBody>
      </p:sp>
      <p:sp>
        <p:nvSpPr>
          <p:cNvPr id="7" name="step-body-0">
            <a:extLst xmlns:a="http://schemas.openxmlformats.org/drawingml/2006/main">
              <a:ext uri="{FF2B5EF4-FFF2-40B4-BE49-F238E27FC236}">
                <a16:creationId xmlns:a16="http://schemas.microsoft.com/office/drawing/2014/main" id="{C3BE7121-A93C-403F-8BDC-A2125991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58152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0C0B1D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>
                <a:solidFill>
                  <a:srgbClr val="0C0B1D"/>
                </a:solidFill>
                <a:latin typeface="Nimbus Sans"/>
                <a:ea typeface="Nimbus Sans"/>
                <a:cs typeface="Nimbus Sans"/>
              </a:rPr>
              <a:t>Role need, description and department consultation</a:t>
            </a:r>
          </a:p>
        </p:txBody>
      </p:sp>
      <p:sp>
        <p:nvSpPr>
          <p:cNvPr id="8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5A881CE8-5258-4BC0-8B4B-322C213A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8140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BB4BD"/>
                </a:solidFill>
                <a:latin typeface="Nimbus Sans"/>
                <a:ea typeface="Nimbus Sans"/>
                <a:cs typeface="Nimbus Sans"/>
              </a:defRPr>
            </a:pPr>
            <a:r>
              <a:rPr sz="4350" b="1">
                <a:solidFill>
                  <a:srgbClr val="1BB4BD"/>
                </a:solidFill>
                <a:latin typeface="Nimbus Sans"/>
                <a:ea typeface="Nimbus Sans"/>
                <a:cs typeface="Nimbus Sans"/>
              </a:rPr>
              <a:t>2</a:t>
            </a:r>
          </a:p>
        </p:txBody>
      </p:sp>
      <p:sp>
        <p:nvSpPr>
          <p:cNvPr id="9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2599E146-42CA-4EF9-97B3-5A44D326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609975"/>
            <a:ext cx="4953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C0B1D"/>
                </a:solidFill>
                <a:latin typeface="Nimbus Sans"/>
                <a:ea typeface="Nimbus Sans"/>
                <a:cs typeface="Nimbus Sans"/>
              </a:defRPr>
            </a:pPr>
            <a:r>
              <a:rPr sz="2700" b="1">
                <a:solidFill>
                  <a:srgbClr val="0C0B1D"/>
                </a:solidFill>
                <a:latin typeface="Nimbus Sans"/>
                <a:ea typeface="Nimbus Sans"/>
                <a:cs typeface="Nimbus Sans"/>
              </a:rPr>
              <a:t>Total Rewards</a:t>
            </a:r>
          </a:p>
        </p:txBody>
      </p:sp>
      <p:sp>
        <p:nvSpPr>
          <p:cNvPr id="10" name="step-body-1">
            <a:extLst xmlns:a="http://schemas.openxmlformats.org/drawingml/2006/main">
              <a:ext uri="{FF2B5EF4-FFF2-40B4-BE49-F238E27FC236}">
                <a16:creationId xmlns:a16="http://schemas.microsoft.com/office/drawing/2014/main" id="{A29660F5-CD17-4D90-B4B6-0AE47CE4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58152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0C0B1D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>
                <a:solidFill>
                  <a:srgbClr val="0C0B1D"/>
                </a:solidFill>
                <a:latin typeface="Nimbus Sans"/>
                <a:ea typeface="Nimbus Sans"/>
                <a:cs typeface="Nimbus Sans"/>
              </a:rPr>
              <a:t>Evaluation, grade and proposed salary range</a:t>
            </a:r>
          </a:p>
        </p:txBody>
      </p:sp>
      <p:sp>
        <p:nvSpPr>
          <p:cNvPr id="11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D1B8B155-331B-46AA-A419-A1838976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1025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BB4BD"/>
                </a:solidFill>
                <a:latin typeface="Nimbus Sans"/>
                <a:ea typeface="Nimbus Sans"/>
                <a:cs typeface="Nimbus Sans"/>
              </a:defRPr>
            </a:pPr>
            <a:r>
              <a:rPr sz="4350" b="1">
                <a:solidFill>
                  <a:srgbClr val="1BB4BD"/>
                </a:solidFill>
                <a:latin typeface="Nimbus Sans"/>
                <a:ea typeface="Nimbus Sans"/>
                <a:cs typeface="Nimbus Sans"/>
              </a:rPr>
              <a:t>3</a:t>
            </a:r>
          </a:p>
        </p:txBody>
      </p:sp>
      <p:sp>
        <p:nvSpPr>
          <p:cNvPr id="12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30254D17-B103-4D8A-A247-D9F51AC8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838825"/>
            <a:ext cx="4953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C0B1D"/>
                </a:solidFill>
                <a:latin typeface="Nimbus Sans"/>
                <a:ea typeface="Nimbus Sans"/>
                <a:cs typeface="Nimbus Sans"/>
              </a:defRPr>
            </a:pPr>
            <a:r>
              <a:rPr sz="2700" b="1">
                <a:solidFill>
                  <a:srgbClr val="0C0B1D"/>
                </a:solidFill>
                <a:latin typeface="Nimbus Sans"/>
                <a:ea typeface="Nimbus Sans"/>
                <a:cs typeface="Nimbus Sans"/>
              </a:rPr>
              <a:t>Finance &amp; Planning</a:t>
            </a:r>
          </a:p>
        </p:txBody>
      </p:sp>
      <p:sp>
        <p:nvSpPr>
          <p:cNvPr id="13" name="step-body-2">
            <a:extLst xmlns:a="http://schemas.openxmlformats.org/drawingml/2006/main">
              <a:ext uri="{FF2B5EF4-FFF2-40B4-BE49-F238E27FC236}">
                <a16:creationId xmlns:a16="http://schemas.microsoft.com/office/drawing/2014/main" id="{CE4FB907-B119-47C1-8525-DF4C6FA2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81037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0C0B1D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>
                <a:solidFill>
                  <a:srgbClr val="0C0B1D"/>
                </a:solidFill>
                <a:latin typeface="Nimbus Sans"/>
                <a:ea typeface="Nimbus Sans"/>
                <a:cs typeface="Nimbus Sans"/>
              </a:rPr>
              <a:t>Headcount, cost and budget</a:t>
            </a:r>
          </a:p>
        </p:txBody>
      </p:sp>
      <p:sp>
        <p:nvSpPr>
          <p:cNvPr id="14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4ABFFA9B-825D-4182-B43C-CA1CF67E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81025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BB4BD"/>
                </a:solidFill>
                <a:latin typeface="Nimbus Sans"/>
                <a:ea typeface="Nimbus Sans"/>
                <a:cs typeface="Nimbus Sans"/>
              </a:defRPr>
            </a:pPr>
            <a:r>
              <a:rPr sz="4350" b="1">
                <a:solidFill>
                  <a:srgbClr val="1BB4BD"/>
                </a:solidFill>
                <a:latin typeface="Nimbus Sans"/>
                <a:ea typeface="Nimbus Sans"/>
                <a:cs typeface="Nimbus Sans"/>
              </a:rPr>
              <a:t>4</a:t>
            </a:r>
          </a:p>
        </p:txBody>
      </p:sp>
      <p:sp>
        <p:nvSpPr>
          <p:cNvPr id="15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9C3C76F4-EE3B-423F-ABAA-83BEA923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838825"/>
            <a:ext cx="4953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C0B1D"/>
                </a:solidFill>
                <a:latin typeface="Nimbus Sans"/>
                <a:ea typeface="Nimbus Sans"/>
                <a:cs typeface="Nimbus Sans"/>
              </a:defRPr>
            </a:pPr>
            <a:r>
              <a:rPr sz="2700" b="1">
                <a:solidFill>
                  <a:srgbClr val="0C0B1D"/>
                </a:solidFill>
                <a:latin typeface="Nimbus Sans"/>
                <a:ea typeface="Nimbus Sans"/>
                <a:cs typeface="Nimbus Sans"/>
              </a:rPr>
              <a:t>Final authority</a:t>
            </a:r>
          </a:p>
        </p:txBody>
      </p:sp>
      <p:sp>
        <p:nvSpPr>
          <p:cNvPr id="16" name="step-body-3">
            <a:extLst xmlns:a="http://schemas.openxmlformats.org/drawingml/2006/main">
              <a:ext uri="{FF2B5EF4-FFF2-40B4-BE49-F238E27FC236}">
                <a16:creationId xmlns:a16="http://schemas.microsoft.com/office/drawing/2014/main" id="{95B4EEE0-286B-42BA-A751-BB6AEC42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681037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0C0B1D"/>
                </a:solidFill>
                <a:latin typeface="Nimbus Sans"/>
                <a:ea typeface="Nimbus Sans"/>
                <a:cs typeface="Nimbus Sans"/>
              </a:defRPr>
            </a:pPr>
            <a:r>
              <a:rPr sz="2250" b="0">
                <a:solidFill>
                  <a:srgbClr val="0C0B1D"/>
                </a:solidFill>
                <a:latin typeface="Nimbus Sans"/>
                <a:ea typeface="Nimbus Sans"/>
                <a:cs typeface="Nimbus Sans"/>
              </a:rPr>
              <a:t>Final decision after completed reviews</a:t>
            </a:r>
          </a:p>
        </p:txBody>
      </p:sp>
      <p:sp>
        <p:nvSpPr>
          <p:cNvPr id="17" name="slide-note">
            <a:extLst xmlns:a="http://schemas.openxmlformats.org/drawingml/2006/main">
              <a:ext uri="{FF2B5EF4-FFF2-40B4-BE49-F238E27FC236}">
                <a16:creationId xmlns:a16="http://schemas.microsoft.com/office/drawing/2014/main" id="{7BA04165-AEFE-4BC1-B5D6-EECF5D4E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8448675"/>
            <a:ext cx="12249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C5262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C5262"/>
                </a:solidFill>
                <a:latin typeface="Nimbus Sans"/>
                <a:ea typeface="Nimbus Sans"/>
                <a:cs typeface="Nimbus Sans"/>
              </a:rPr>
              <a:t>Defined permissions separate the requester from the approver</a:t>
            </a:r>
          </a:p>
        </p:txBody>
      </p:sp>
    </p:spTree>
    <p:extLst>
      <p:ext uri="{BB962C8B-B14F-4D97-AF65-F5344CB8AC3E}">
        <p14:creationId xmlns:p14="http://schemas.microsoft.com/office/powerpoint/2010/main" val="7717451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BB4B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brand">
            <a:extLst xmlns:a="http://schemas.openxmlformats.org/drawingml/2006/main">
              <a:ext uri="{FF2B5EF4-FFF2-40B4-BE49-F238E27FC236}">
                <a16:creationId xmlns:a16="http://schemas.microsoft.com/office/drawing/2014/main" id="{5842F69D-21D0-482B-AD1B-32F25C5B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953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MIYAR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71F61B9B-D37F-4229-AB72-0E328D8A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84872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E1E7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D7E1E7"/>
                </a:solidFill>
                <a:latin typeface="Nimbus Sans"/>
                <a:ea typeface="Nimbus Sans"/>
                <a:cs typeface="Nimbus Sans"/>
              </a:rPr>
              <a:t>9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0B07273-8606-44DD-B84A-B6735FEE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76375"/>
            <a:ext cx="131540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4350" b="1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Saudi references within the decision workflow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87ED8ACD-04C2-4D44-8E91-0E654EFC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43225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B1D"/>
          </a:solidFill>
          <a:ln xmlns:a="http://schemas.openxmlformats.org/drawingml/2006/main" w="0">
            <a:noFill/>
          </a:ln>
        </p:spPr>
      </p:sp>
      <p:sp>
        <p:nvSpPr>
          <p:cNvPr id="5" name="metric-value-0">
            <a:extLst xmlns:a="http://schemas.openxmlformats.org/drawingml/2006/main">
              <a:ext uri="{FF2B5EF4-FFF2-40B4-BE49-F238E27FC236}">
                <a16:creationId xmlns:a16="http://schemas.microsoft.com/office/drawing/2014/main" id="{46207FAC-F0FF-481B-88DD-69F3DC70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71875"/>
            <a:ext cx="6196013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0" b="1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9750" b="1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5,041</a:t>
            </a:r>
          </a:p>
        </p:txBody>
      </p:sp>
      <p:sp>
        <p:nvSpPr>
          <p:cNvPr id="6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20E3BF8C-2207-4404-B10C-A7F3E45A7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19700"/>
            <a:ext cx="6196013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0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2775" b="0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occupations in the SSCO directory</a:t>
            </a:r>
          </a:p>
        </p:txBody>
      </p:sp>
      <p:sp>
        <p:nvSpPr>
          <p:cNvPr id="7" name="metric-detail-0">
            <a:extLst xmlns:a="http://schemas.openxmlformats.org/drawingml/2006/main">
              <a:ext uri="{FF2B5EF4-FFF2-40B4-BE49-F238E27FC236}">
                <a16:creationId xmlns:a16="http://schemas.microsoft.com/office/drawing/2014/main" id="{5C7FD77A-FF4E-495A-8C62-6FA885E55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91275"/>
            <a:ext cx="6196013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2019 edition</a:t>
            </a:r>
          </a:p>
        </p:txBody>
      </p:sp>
      <p:sp>
        <p:nvSpPr>
          <p:cNvPr id="8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994F188F-D010-4565-ADED-1BF4C0F9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4763" y="3571875"/>
            <a:ext cx="6196013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0" b="1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9750" b="1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599</a:t>
            </a:r>
          </a:p>
        </p:txBody>
      </p:sp>
      <p:sp>
        <p:nvSpPr>
          <p:cNvPr id="9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77CF318A-ABB3-4A71-B2AB-6C33B407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4763" y="5219700"/>
            <a:ext cx="6196013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0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2775" b="0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education specializations</a:t>
            </a:r>
          </a:p>
        </p:txBody>
      </p:sp>
      <p:sp>
        <p:nvSpPr>
          <p:cNvPr id="10" name="metric-detail-1">
            <a:extLst xmlns:a="http://schemas.openxmlformats.org/drawingml/2006/main">
              <a:ext uri="{FF2B5EF4-FFF2-40B4-BE49-F238E27FC236}">
                <a16:creationId xmlns:a16="http://schemas.microsoft.com/office/drawing/2014/main" id="{E24E6B42-DD83-4CD3-AFDB-B3F34499A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4763" y="6391275"/>
            <a:ext cx="6196013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2020 education reference</a:t>
            </a:r>
          </a:p>
        </p:txBody>
      </p:sp>
      <p:sp>
        <p:nvSpPr>
          <p:cNvPr id="11" name="slide-note">
            <a:extLst xmlns:a="http://schemas.openxmlformats.org/drawingml/2006/main">
              <a:ext uri="{FF2B5EF4-FFF2-40B4-BE49-F238E27FC236}">
                <a16:creationId xmlns:a16="http://schemas.microsoft.com/office/drawing/2014/main" id="{CF74EF58-9CDB-4435-91CF-213BD03C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8448675"/>
            <a:ext cx="12249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E1E7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D7E1E7"/>
                </a:solidFill>
                <a:latin typeface="Nimbus Sans"/>
                <a:ea typeface="Nimbus Sans"/>
                <a:cs typeface="Nimbus Sans"/>
              </a:rPr>
              <a:t>Professional-category alerts include official authority links for review</a:t>
            </a:r>
          </a:p>
        </p:txBody>
      </p:sp>
    </p:spTree>
    <p:extLst>
      <p:ext uri="{BB962C8B-B14F-4D97-AF65-F5344CB8AC3E}">
        <p14:creationId xmlns:p14="http://schemas.microsoft.com/office/powerpoint/2010/main" val="21101206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brand">
            <a:extLst xmlns:a="http://schemas.openxmlformats.org/drawingml/2006/main">
              <a:ext uri="{FF2B5EF4-FFF2-40B4-BE49-F238E27FC236}">
                <a16:creationId xmlns:a16="http://schemas.microsoft.com/office/drawing/2014/main" id="{1DD7138E-53AF-433C-A4A2-03ED8AB2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953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0C0B1D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0C0B1D"/>
                </a:solidFill>
                <a:latin typeface="Nimbus Sans"/>
                <a:ea typeface="Nimbus Sans"/>
                <a:cs typeface="Nimbus Sans"/>
              </a:rPr>
              <a:t>MIYAR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F4DA57C5-BC61-489F-BA08-9A02EAB8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84872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C5262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C5262"/>
                </a:solidFill>
                <a:latin typeface="Nimbus Sans"/>
                <a:ea typeface="Nimbus Sans"/>
                <a:cs typeface="Nimbus Sans"/>
              </a:rPr>
              <a:t>10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3E4A3DC-C8FE-42C5-BFB6-5AED5CE1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76375"/>
            <a:ext cx="131540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C0B1D"/>
                </a:solidFill>
                <a:latin typeface="Nimbus Sans"/>
                <a:ea typeface="Nimbus Sans"/>
                <a:cs typeface="Nimbus Sans"/>
              </a:defRPr>
            </a:pPr>
            <a:r>
              <a:rPr sz="4350" b="1">
                <a:solidFill>
                  <a:srgbClr val="0C0B1D"/>
                </a:solidFill>
                <a:latin typeface="Nimbus Sans"/>
                <a:ea typeface="Nimbus Sans"/>
                <a:cs typeface="Nimbus Sans"/>
              </a:rPr>
              <a:t>What distinguishes Miyar’s focus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C9F704B7-CD18-4AAD-8B4E-0DE5B4D6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43225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5" name="statement">
            <a:extLst xmlns:a="http://schemas.openxmlformats.org/drawingml/2006/main">
              <a:ext uri="{FF2B5EF4-FFF2-40B4-BE49-F238E27FC236}">
                <a16:creationId xmlns:a16="http://schemas.microsoft.com/office/drawing/2014/main" id="{6943E77C-7768-48F7-9741-F1E44B51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131540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C0B1D"/>
                </a:solidFill>
                <a:latin typeface="Nimbus Sans"/>
                <a:ea typeface="Nimbus Sans"/>
                <a:cs typeface="Nimbus Sans"/>
              </a:defRPr>
            </a:pPr>
            <a:r>
              <a:rPr sz="3750" b="1">
                <a:solidFill>
                  <a:srgbClr val="0C0B1D"/>
                </a:solidFill>
                <a:latin typeface="Nimbus Sans"/>
                <a:ea typeface="Nimbus Sans"/>
                <a:cs typeface="Nimbus Sans"/>
              </a:rPr>
              <a:t>The position anchors the institutional record</a:t>
            </a:r>
          </a:p>
        </p:txBody>
      </p:sp>
      <p:sp>
        <p:nvSpPr>
          <p:cNvPr id="6" name="item-rule-0">
            <a:extLst xmlns:a="http://schemas.openxmlformats.org/drawingml/2006/main">
              <a:ext uri="{FF2B5EF4-FFF2-40B4-BE49-F238E27FC236}">
                <a16:creationId xmlns:a16="http://schemas.microsoft.com/office/drawing/2014/main" id="{6C11E289-B649-4BD2-9764-C079E0753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10225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7" name="item-0">
            <a:extLst xmlns:a="http://schemas.openxmlformats.org/drawingml/2006/main">
              <a:ext uri="{FF2B5EF4-FFF2-40B4-BE49-F238E27FC236}">
                <a16:creationId xmlns:a16="http://schemas.microsoft.com/office/drawing/2014/main" id="{F928D827-FD0C-4950-AFFB-50166FEF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438775"/>
            <a:ext cx="128682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0C0B1D"/>
                </a:solidFill>
                <a:latin typeface="Nimbus Sans"/>
                <a:ea typeface="Nimbus Sans"/>
                <a:cs typeface="Nimbus Sans"/>
              </a:defRPr>
            </a:pPr>
            <a:r>
              <a:rPr sz="2850" b="0">
                <a:solidFill>
                  <a:srgbClr val="0C0B1D"/>
                </a:solidFill>
                <a:latin typeface="Nimbus Sans"/>
                <a:ea typeface="Nimbus Sans"/>
                <a:cs typeface="Nimbus Sans"/>
              </a:rPr>
              <a:t>Traceable occupation and education references</a:t>
            </a:r>
          </a:p>
        </p:txBody>
      </p:sp>
      <p:sp>
        <p:nvSpPr>
          <p:cNvPr id="8" name="item-rule-1">
            <a:extLst xmlns:a="http://schemas.openxmlformats.org/drawingml/2006/main">
              <a:ext uri="{FF2B5EF4-FFF2-40B4-BE49-F238E27FC236}">
                <a16:creationId xmlns:a16="http://schemas.microsoft.com/office/drawing/2014/main" id="{471A37DC-2382-4699-B4AF-03F8065E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562725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9" name="item-1">
            <a:extLst xmlns:a="http://schemas.openxmlformats.org/drawingml/2006/main">
              <a:ext uri="{FF2B5EF4-FFF2-40B4-BE49-F238E27FC236}">
                <a16:creationId xmlns:a16="http://schemas.microsoft.com/office/drawing/2014/main" id="{5A7DFFA9-24CC-4786-B344-9A7F1E1A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391275"/>
            <a:ext cx="128682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0C0B1D"/>
                </a:solidFill>
                <a:latin typeface="Nimbus Sans"/>
                <a:ea typeface="Nimbus Sans"/>
                <a:cs typeface="Nimbus Sans"/>
              </a:defRPr>
            </a:pPr>
            <a:r>
              <a:rPr sz="2850" b="0">
                <a:solidFill>
                  <a:srgbClr val="0C0B1D"/>
                </a:solidFill>
                <a:latin typeface="Nimbus Sans"/>
                <a:ea typeface="Nimbus Sans"/>
                <a:cs typeface="Nimbus Sans"/>
              </a:rPr>
              <a:t>Description, evaluation and reviews share a revision</a:t>
            </a:r>
          </a:p>
        </p:txBody>
      </p:sp>
      <p:sp>
        <p:nvSpPr>
          <p:cNvPr id="10" name="item-rule-2">
            <a:extLst xmlns:a="http://schemas.openxmlformats.org/drawingml/2006/main">
              <a:ext uri="{FF2B5EF4-FFF2-40B4-BE49-F238E27FC236}">
                <a16:creationId xmlns:a16="http://schemas.microsoft.com/office/drawing/2014/main" id="{331B6D10-FF24-4704-849A-5ABA09A5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515225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11" name="item-2">
            <a:extLst xmlns:a="http://schemas.openxmlformats.org/drawingml/2006/main">
              <a:ext uri="{FF2B5EF4-FFF2-40B4-BE49-F238E27FC236}">
                <a16:creationId xmlns:a16="http://schemas.microsoft.com/office/drawing/2014/main" id="{653690D0-9205-464C-973A-A946689B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343775"/>
            <a:ext cx="128682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0C0B1D"/>
                </a:solidFill>
                <a:latin typeface="Nimbus Sans"/>
                <a:ea typeface="Nimbus Sans"/>
                <a:cs typeface="Nimbus Sans"/>
              </a:defRPr>
            </a:pPr>
            <a:r>
              <a:rPr sz="2850" b="0">
                <a:solidFill>
                  <a:srgbClr val="0C0B1D"/>
                </a:solidFill>
                <a:latin typeface="Nimbus Sans"/>
                <a:ea typeface="Nimbus Sans"/>
                <a:cs typeface="Nimbus Sans"/>
              </a:rPr>
              <a:t>A path for emerging roles without inventing official codes</a:t>
            </a:r>
          </a:p>
        </p:txBody>
      </p:sp>
    </p:spTree>
    <p:extLst>
      <p:ext uri="{BB962C8B-B14F-4D97-AF65-F5344CB8AC3E}">
        <p14:creationId xmlns:p14="http://schemas.microsoft.com/office/powerpoint/2010/main" val="138011802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C0B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af6508e9e546fa"/>
          <a:srcRect xmlns:a="http://schemas.openxmlformats.org/drawingml/2006/main" l="0" t="69" r="0" b="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9525" cy="9525000"/>
          </a:xfrm>
          <a:prstGeom xmlns:a="http://schemas.openxmlformats.org/drawingml/2006/main" prst="rect">
            <a:avLst/>
          </a:prstGeom>
        </p:spPr>
      </p:pic>
      <p:sp>
        <p:nvSpPr>
          <p:cNvPr id="2" name="photo-legibility-overlay">
            <a:extLst xmlns:a="http://schemas.openxmlformats.org/drawingml/2006/main">
              <a:ext uri="{FF2B5EF4-FFF2-40B4-BE49-F238E27FC236}">
                <a16:creationId xmlns:a16="http://schemas.microsoft.com/office/drawing/2014/main" id="{371DC478-170A-40BA-8D2C-92F62211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9525" cy="952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B1D">
              <a:alpha val="58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6D92F449-15B7-489C-BBA0-BACDBEFF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953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MIYAR</a:t>
            </a:r>
          </a:p>
        </p:txBody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E231E0F5-9ED6-4516-A7FF-E8762F30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84872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E1E7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D7E1E7"/>
                </a:solidFill>
                <a:latin typeface="Nimbus Sans"/>
                <a:ea typeface="Nimbus Sans"/>
                <a:cs typeface="Nimbus Sans"/>
              </a:rPr>
              <a:t>11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9FC0472-A6DD-4F5C-AB5C-8561BC71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76375"/>
            <a:ext cx="131540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4350" b="1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Target customers</a:t>
            </a:r>
          </a:p>
        </p:txBody>
      </p:sp>
      <p:sp>
        <p:nvSpPr>
          <p:cNvPr id="6" name="title-rule">
            <a:extLst xmlns:a="http://schemas.openxmlformats.org/drawingml/2006/main">
              <a:ext uri="{FF2B5EF4-FFF2-40B4-BE49-F238E27FC236}">
                <a16:creationId xmlns:a16="http://schemas.microsoft.com/office/drawing/2014/main" id="{FEF95B9F-726E-4E7F-BD39-A86157F2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43225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7" name="column-title-0">
            <a:extLst xmlns:a="http://schemas.openxmlformats.org/drawingml/2006/main">
              <a:ext uri="{FF2B5EF4-FFF2-40B4-BE49-F238E27FC236}">
                <a16:creationId xmlns:a16="http://schemas.microsoft.com/office/drawing/2014/main" id="{2E9BE11F-25D2-4E1A-8547-892AA35C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62350"/>
            <a:ext cx="6057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BB4BD"/>
                </a:solidFill>
                <a:latin typeface="Nimbus Sans"/>
                <a:ea typeface="Nimbus Sans"/>
                <a:cs typeface="Nimbus Sans"/>
              </a:defRPr>
            </a:pPr>
            <a:r>
              <a:rPr sz="2850" b="1">
                <a:solidFill>
                  <a:srgbClr val="1BB4BD"/>
                </a:solidFill>
                <a:latin typeface="Nimbus Sans"/>
                <a:ea typeface="Nimbus Sans"/>
                <a:cs typeface="Nimbus Sans"/>
              </a:rPr>
              <a:t>Proposed starting point</a:t>
            </a:r>
          </a:p>
        </p:txBody>
      </p:sp>
      <p:sp>
        <p:nvSpPr>
          <p:cNvPr id="8" name="item-rule-0">
            <a:extLst xmlns:a="http://schemas.openxmlformats.org/drawingml/2006/main">
              <a:ext uri="{FF2B5EF4-FFF2-40B4-BE49-F238E27FC236}">
                <a16:creationId xmlns:a16="http://schemas.microsoft.com/office/drawing/2014/main" id="{3D0CDF5B-6165-4162-AD7C-B0E4D767A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48225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9" name="item-0">
            <a:extLst xmlns:a="http://schemas.openxmlformats.org/drawingml/2006/main">
              <a:ext uri="{FF2B5EF4-FFF2-40B4-BE49-F238E27FC236}">
                <a16:creationId xmlns:a16="http://schemas.microsoft.com/office/drawing/2014/main" id="{56B04135-9600-464B-86F0-91A65886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76775"/>
            <a:ext cx="57721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2550" b="0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A university or organization with multiple review committees</a:t>
            </a:r>
          </a:p>
        </p:txBody>
      </p:sp>
      <p:sp>
        <p:nvSpPr>
          <p:cNvPr id="10" name="item-rule-1">
            <a:extLst xmlns:a="http://schemas.openxmlformats.org/drawingml/2006/main">
              <a:ext uri="{FF2B5EF4-FFF2-40B4-BE49-F238E27FC236}">
                <a16:creationId xmlns:a16="http://schemas.microsoft.com/office/drawing/2014/main" id="{6AC0E4E7-0574-424B-9DA1-753913B3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0550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11" name="item-1">
            <a:extLst xmlns:a="http://schemas.openxmlformats.org/drawingml/2006/main">
              <a:ext uri="{FF2B5EF4-FFF2-40B4-BE49-F238E27FC236}">
                <a16:creationId xmlns:a16="http://schemas.microsoft.com/office/drawing/2014/main" id="{1D07ED76-B1F6-42B8-A5C1-811132F70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734050"/>
            <a:ext cx="57721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2550" b="0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Two departments with real position requests</a:t>
            </a:r>
          </a:p>
        </p:txBody>
      </p:sp>
      <p:sp>
        <p:nvSpPr>
          <p:cNvPr id="12" name="column-title-1">
            <a:extLst xmlns:a="http://schemas.openxmlformats.org/drawingml/2006/main">
              <a:ext uri="{FF2B5EF4-FFF2-40B4-BE49-F238E27FC236}">
                <a16:creationId xmlns:a16="http://schemas.microsoft.com/office/drawing/2014/main" id="{35EC1BA2-39AC-455C-833F-725B2E6E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562350"/>
            <a:ext cx="6057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BB4BD"/>
                </a:solidFill>
                <a:latin typeface="Nimbus Sans"/>
                <a:ea typeface="Nimbus Sans"/>
                <a:cs typeface="Nimbus Sans"/>
              </a:defRPr>
            </a:pPr>
            <a:r>
              <a:rPr sz="2850" b="1">
                <a:solidFill>
                  <a:srgbClr val="1BB4BD"/>
                </a:solidFill>
                <a:latin typeface="Nimbus Sans"/>
                <a:ea typeface="Nimbus Sans"/>
                <a:cs typeface="Nimbus Sans"/>
              </a:rPr>
              <a:t>Expansion after validation</a:t>
            </a:r>
          </a:p>
        </p:txBody>
      </p:sp>
      <p:sp>
        <p:nvSpPr>
          <p:cNvPr id="13" name="item-rule-0">
            <a:extLst xmlns:a="http://schemas.openxmlformats.org/drawingml/2006/main">
              <a:ext uri="{FF2B5EF4-FFF2-40B4-BE49-F238E27FC236}">
                <a16:creationId xmlns:a16="http://schemas.microsoft.com/office/drawing/2014/main" id="{B332EDDF-7F96-487E-987D-C8600B3F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848225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14" name="item-0">
            <a:extLst xmlns:a="http://schemas.openxmlformats.org/drawingml/2006/main">
              <a:ext uri="{FF2B5EF4-FFF2-40B4-BE49-F238E27FC236}">
                <a16:creationId xmlns:a16="http://schemas.microsoft.com/office/drawing/2014/main" id="{8AC8DCF2-31A7-436E-B542-1BD8D73A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76775"/>
            <a:ext cx="57721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2550" b="0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Government entities and large enterprises</a:t>
            </a:r>
          </a:p>
        </p:txBody>
      </p:sp>
      <p:sp>
        <p:nvSpPr>
          <p:cNvPr id="15" name="item-rule-1">
            <a:extLst xmlns:a="http://schemas.openxmlformats.org/drawingml/2006/main">
              <a:ext uri="{FF2B5EF4-FFF2-40B4-BE49-F238E27FC236}">
                <a16:creationId xmlns:a16="http://schemas.microsoft.com/office/drawing/2014/main" id="{2C2CE499-E16B-40ED-99CB-E771BC99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90550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16" name="item-1">
            <a:extLst xmlns:a="http://schemas.openxmlformats.org/drawingml/2006/main">
              <a:ext uri="{FF2B5EF4-FFF2-40B4-BE49-F238E27FC236}">
                <a16:creationId xmlns:a16="http://schemas.microsoft.com/office/drawing/2014/main" id="{6EF2911A-CA08-408C-AC03-6F71AE7A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734050"/>
            <a:ext cx="57721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2550" b="0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Hospitals and diversified business groups</a:t>
            </a:r>
          </a:p>
        </p:txBody>
      </p:sp>
      <p:sp>
        <p:nvSpPr>
          <p:cNvPr id="17" name="slide-note">
            <a:extLst xmlns:a="http://schemas.openxmlformats.org/drawingml/2006/main">
              <a:ext uri="{FF2B5EF4-FFF2-40B4-BE49-F238E27FC236}">
                <a16:creationId xmlns:a16="http://schemas.microsoft.com/office/drawing/2014/main" id="{5688D5FB-22D1-4129-A454-FC757E67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8448675"/>
            <a:ext cx="12249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E1E7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D7E1E7"/>
                </a:solidFill>
                <a:latin typeface="Nimbus Sans"/>
                <a:ea typeface="Nimbus Sans"/>
                <a:cs typeface="Nimbus Sans"/>
              </a:rPr>
              <a:t>Target segments for pilots and expansion</a:t>
            </a:r>
          </a:p>
        </p:txBody>
      </p:sp>
    </p:spTree>
    <p:extLst>
      <p:ext uri="{BB962C8B-B14F-4D97-AF65-F5344CB8AC3E}">
        <p14:creationId xmlns:p14="http://schemas.microsoft.com/office/powerpoint/2010/main" val="6135403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brand">
            <a:extLst xmlns:a="http://schemas.openxmlformats.org/drawingml/2006/main">
              <a:ext uri="{FF2B5EF4-FFF2-40B4-BE49-F238E27FC236}">
                <a16:creationId xmlns:a16="http://schemas.microsoft.com/office/drawing/2014/main" id="{5B6340E9-E4F5-4945-8EEE-A79EEE1C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953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0C0B1D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0C0B1D"/>
                </a:solidFill>
                <a:latin typeface="Nimbus Sans"/>
                <a:ea typeface="Nimbus Sans"/>
                <a:cs typeface="Nimbus Sans"/>
              </a:rPr>
              <a:t>MIYAR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921E15BE-98D1-4B10-8DEE-70EACAABB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84872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C5262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C5262"/>
                </a:solidFill>
                <a:latin typeface="Nimbus Sans"/>
                <a:ea typeface="Nimbus Sans"/>
                <a:cs typeface="Nimbus Sans"/>
              </a:rPr>
              <a:t>12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867AAEA-396E-4387-AAA2-8D4B7B31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76375"/>
            <a:ext cx="131540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C0B1D"/>
                </a:solidFill>
                <a:latin typeface="Nimbus Sans"/>
                <a:ea typeface="Nimbus Sans"/>
                <a:cs typeface="Nimbus Sans"/>
              </a:defRPr>
            </a:pPr>
            <a:r>
              <a:rPr sz="4350" b="1">
                <a:solidFill>
                  <a:srgbClr val="0C0B1D"/>
                </a:solidFill>
                <a:latin typeface="Nimbus Sans"/>
                <a:ea typeface="Nimbus Sans"/>
                <a:cs typeface="Nimbus Sans"/>
              </a:rPr>
              <a:t>Proposed business model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B030C2D3-AE70-4713-8CDA-DA4C4C80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43225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5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D4B5356F-726B-47FF-940A-4440D6D6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09975"/>
            <a:ext cx="3952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1BB4BD"/>
                </a:solidFill>
                <a:latin typeface="Nimbus Sans"/>
                <a:ea typeface="Nimbus Sans"/>
                <a:cs typeface="Nimbus Sans"/>
              </a:defRPr>
            </a:pPr>
            <a:r>
              <a:rPr sz="5700" b="1">
                <a:solidFill>
                  <a:srgbClr val="1BB4BD"/>
                </a:solidFill>
                <a:latin typeface="Nimbus Sans"/>
                <a:ea typeface="Nimbus Sans"/>
                <a:cs typeface="Nimbus Sans"/>
              </a:rPr>
              <a:t>1</a:t>
            </a:r>
          </a:p>
        </p:txBody>
      </p:sp>
      <p:sp>
        <p:nvSpPr>
          <p:cNvPr id="6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712B8AFD-D373-44BE-BB13-8093CBAF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33950"/>
            <a:ext cx="39528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0B1D"/>
                </a:solidFill>
                <a:latin typeface="Nimbus Sans"/>
                <a:ea typeface="Nimbus Sans"/>
                <a:cs typeface="Nimbus Sans"/>
              </a:defRPr>
            </a:pPr>
            <a:r>
              <a:rPr sz="2850" b="1">
                <a:solidFill>
                  <a:srgbClr val="0C0B1D"/>
                </a:solidFill>
                <a:latin typeface="Nimbus Sans"/>
                <a:ea typeface="Nimbus Sans"/>
                <a:cs typeface="Nimbus Sans"/>
              </a:rPr>
              <a:t>Institutional subscription</a:t>
            </a:r>
          </a:p>
        </p:txBody>
      </p:sp>
      <p:sp>
        <p:nvSpPr>
          <p:cNvPr id="7" name="step-body-0">
            <a:extLst xmlns:a="http://schemas.openxmlformats.org/drawingml/2006/main">
              <a:ext uri="{FF2B5EF4-FFF2-40B4-BE49-F238E27FC236}">
                <a16:creationId xmlns:a16="http://schemas.microsoft.com/office/drawing/2014/main" id="{F2A59E01-E872-454C-9581-D9B21B55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229350"/>
            <a:ext cx="39528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C0B1D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0C0B1D"/>
                </a:solidFill>
                <a:latin typeface="Nimbus Sans"/>
                <a:ea typeface="Nimbus Sans"/>
                <a:cs typeface="Nimbus Sans"/>
              </a:rPr>
              <a:t>Annual access to the organization workspace and team permissions</a:t>
            </a:r>
          </a:p>
        </p:txBody>
      </p:sp>
      <p:sp>
        <p:nvSpPr>
          <p:cNvPr id="8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C58877BD-4CA1-4CBC-86B0-EF8F11D0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609975"/>
            <a:ext cx="3952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1BB4BD"/>
                </a:solidFill>
                <a:latin typeface="Nimbus Sans"/>
                <a:ea typeface="Nimbus Sans"/>
                <a:cs typeface="Nimbus Sans"/>
              </a:defRPr>
            </a:pPr>
            <a:r>
              <a:rPr sz="5700" b="1">
                <a:solidFill>
                  <a:srgbClr val="1BB4BD"/>
                </a:solidFill>
                <a:latin typeface="Nimbus Sans"/>
                <a:ea typeface="Nimbus Sans"/>
                <a:cs typeface="Nimbus Sans"/>
              </a:rPr>
              <a:t>2</a:t>
            </a:r>
          </a:p>
        </p:txBody>
      </p:sp>
      <p:sp>
        <p:nvSpPr>
          <p:cNvPr id="9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E8F6304C-543E-47ED-A6B6-BC936736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933950"/>
            <a:ext cx="39528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0B1D"/>
                </a:solidFill>
                <a:latin typeface="Nimbus Sans"/>
                <a:ea typeface="Nimbus Sans"/>
                <a:cs typeface="Nimbus Sans"/>
              </a:defRPr>
            </a:pPr>
            <a:r>
              <a:rPr sz="2850" b="1">
                <a:solidFill>
                  <a:srgbClr val="0C0B1D"/>
                </a:solidFill>
                <a:latin typeface="Nimbus Sans"/>
                <a:ea typeface="Nimbus Sans"/>
                <a:cs typeface="Nimbus Sans"/>
              </a:rPr>
              <a:t>Setup and training</a:t>
            </a:r>
          </a:p>
        </p:txBody>
      </p:sp>
      <p:sp>
        <p:nvSpPr>
          <p:cNvPr id="10" name="step-body-1">
            <a:extLst xmlns:a="http://schemas.openxmlformats.org/drawingml/2006/main">
              <a:ext uri="{FF2B5EF4-FFF2-40B4-BE49-F238E27FC236}">
                <a16:creationId xmlns:a16="http://schemas.microsoft.com/office/drawing/2014/main" id="{9A534CF7-4E2C-4CA3-AC93-BE272407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6229350"/>
            <a:ext cx="39528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C0B1D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0C0B1D"/>
                </a:solidFill>
                <a:latin typeface="Nimbus Sans"/>
                <a:ea typeface="Nimbus Sans"/>
                <a:cs typeface="Nimbus Sans"/>
              </a:rPr>
              <a:t>Configure frameworks and approval workflows, and train reviewers</a:t>
            </a:r>
          </a:p>
        </p:txBody>
      </p:sp>
      <p:sp>
        <p:nvSpPr>
          <p:cNvPr id="11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4D99093B-258E-4CE3-85AA-3EEDF658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609975"/>
            <a:ext cx="3952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1BB4BD"/>
                </a:solidFill>
                <a:latin typeface="Nimbus Sans"/>
                <a:ea typeface="Nimbus Sans"/>
                <a:cs typeface="Nimbus Sans"/>
              </a:defRPr>
            </a:pPr>
            <a:r>
              <a:rPr sz="5700" b="1">
                <a:solidFill>
                  <a:srgbClr val="1BB4BD"/>
                </a:solidFill>
                <a:latin typeface="Nimbus Sans"/>
                <a:ea typeface="Nimbus Sans"/>
                <a:cs typeface="Nimbus Sans"/>
              </a:rPr>
              <a:t>3</a:t>
            </a:r>
          </a:p>
        </p:txBody>
      </p:sp>
      <p:sp>
        <p:nvSpPr>
          <p:cNvPr id="12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762CF279-8E6A-47DA-AE73-23050200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933950"/>
            <a:ext cx="39528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0B1D"/>
                </a:solidFill>
                <a:latin typeface="Nimbus Sans"/>
                <a:ea typeface="Nimbus Sans"/>
                <a:cs typeface="Nimbus Sans"/>
              </a:defRPr>
            </a:pPr>
            <a:r>
              <a:rPr sz="2850" b="1">
                <a:solidFill>
                  <a:srgbClr val="0C0B1D"/>
                </a:solidFill>
                <a:latin typeface="Nimbus Sans"/>
                <a:ea typeface="Nimbus Sans"/>
                <a:cs typeface="Nimbus Sans"/>
              </a:rPr>
              <a:t>Optional integrations</a:t>
            </a:r>
          </a:p>
        </p:txBody>
      </p:sp>
      <p:sp>
        <p:nvSpPr>
          <p:cNvPr id="13" name="step-body-2">
            <a:extLst xmlns:a="http://schemas.openxmlformats.org/drawingml/2006/main">
              <a:ext uri="{FF2B5EF4-FFF2-40B4-BE49-F238E27FC236}">
                <a16:creationId xmlns:a16="http://schemas.microsoft.com/office/drawing/2014/main" id="{5A439181-2E96-466B-BFE8-7995BCF2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6229350"/>
            <a:ext cx="39528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C0B1D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0C0B1D"/>
                </a:solidFill>
                <a:latin typeface="Nimbus Sans"/>
                <a:ea typeface="Nimbus Sans"/>
                <a:cs typeface="Nimbus Sans"/>
              </a:rPr>
              <a:t>Connect HR systems around the organization’s requirements</a:t>
            </a:r>
          </a:p>
        </p:txBody>
      </p:sp>
      <p:sp>
        <p:nvSpPr>
          <p:cNvPr id="14" name="slide-note">
            <a:extLst xmlns:a="http://schemas.openxmlformats.org/drawingml/2006/main">
              <a:ext uri="{FF2B5EF4-FFF2-40B4-BE49-F238E27FC236}">
                <a16:creationId xmlns:a16="http://schemas.microsoft.com/office/drawing/2014/main" id="{3DF21CE4-E5F7-4838-9A94-8BC7796C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8448675"/>
            <a:ext cx="12249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C5262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C5262"/>
                </a:solidFill>
                <a:latin typeface="Nimbus Sans"/>
                <a:ea typeface="Nimbus Sans"/>
                <a:cs typeface="Nimbus Sans"/>
              </a:rPr>
              <a:t>Pricing and willingness to pay will be tested with the pilot partner</a:t>
            </a:r>
          </a:p>
        </p:txBody>
      </p:sp>
    </p:spTree>
    <p:extLst>
      <p:ext uri="{BB962C8B-B14F-4D97-AF65-F5344CB8AC3E}">
        <p14:creationId xmlns:p14="http://schemas.microsoft.com/office/powerpoint/2010/main" val="181471211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C0B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brand">
            <a:extLst xmlns:a="http://schemas.openxmlformats.org/drawingml/2006/main">
              <a:ext uri="{FF2B5EF4-FFF2-40B4-BE49-F238E27FC236}">
                <a16:creationId xmlns:a16="http://schemas.microsoft.com/office/drawing/2014/main" id="{3B00A349-673E-4B73-B397-534DF592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953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MIYAR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B403F148-83ED-4AF2-BE80-C1A44D87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84872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E1E7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D7E1E7"/>
                </a:solidFill>
                <a:latin typeface="Nimbus Sans"/>
                <a:ea typeface="Nimbus Sans"/>
                <a:cs typeface="Nimbus Sans"/>
              </a:rPr>
              <a:t>13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A35C8A-4565-4925-9CB8-7E40F9AB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76375"/>
            <a:ext cx="131540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4350" b="1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Go-to-market plan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D76D4D8B-603B-4AD2-91B2-3C761BBF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43225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5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EF0C907D-BA59-4867-8363-51D0663D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09975"/>
            <a:ext cx="3952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1BB4BD"/>
                </a:solidFill>
                <a:latin typeface="Nimbus Sans"/>
                <a:ea typeface="Nimbus Sans"/>
                <a:cs typeface="Nimbus Sans"/>
              </a:defRPr>
            </a:pPr>
            <a:r>
              <a:rPr sz="5700" b="1">
                <a:solidFill>
                  <a:srgbClr val="1BB4BD"/>
                </a:solidFill>
                <a:latin typeface="Nimbus Sans"/>
                <a:ea typeface="Nimbus Sans"/>
                <a:cs typeface="Nimbus Sans"/>
              </a:rPr>
              <a:t>1</a:t>
            </a:r>
          </a:p>
        </p:txBody>
      </p:sp>
      <p:sp>
        <p:nvSpPr>
          <p:cNvPr id="6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C7E59A16-7DC0-45FA-9B07-2E672570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33950"/>
            <a:ext cx="39528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2850" b="1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Pilot partner</a:t>
            </a:r>
          </a:p>
        </p:txBody>
      </p:sp>
      <p:sp>
        <p:nvSpPr>
          <p:cNvPr id="7" name="step-body-0">
            <a:extLst xmlns:a="http://schemas.openxmlformats.org/drawingml/2006/main">
              <a:ext uri="{FF2B5EF4-FFF2-40B4-BE49-F238E27FC236}">
                <a16:creationId xmlns:a16="http://schemas.microsoft.com/office/drawing/2014/main" id="{FAA857E7-D21E-4C23-9C51-40D3FAE7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229350"/>
            <a:ext cx="39528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A bounded trial using real descriptions and requests</a:t>
            </a:r>
          </a:p>
        </p:txBody>
      </p:sp>
      <p:sp>
        <p:nvSpPr>
          <p:cNvPr id="8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7257C973-9307-4AEB-B2EF-92E8ECE5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609975"/>
            <a:ext cx="3952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1BB4BD"/>
                </a:solidFill>
                <a:latin typeface="Nimbus Sans"/>
                <a:ea typeface="Nimbus Sans"/>
                <a:cs typeface="Nimbus Sans"/>
              </a:defRPr>
            </a:pPr>
            <a:r>
              <a:rPr sz="5700" b="1">
                <a:solidFill>
                  <a:srgbClr val="1BB4BD"/>
                </a:solidFill>
                <a:latin typeface="Nimbus Sans"/>
                <a:ea typeface="Nimbus Sans"/>
                <a:cs typeface="Nimbus Sans"/>
              </a:rPr>
              <a:t>2</a:t>
            </a:r>
          </a:p>
        </p:txBody>
      </p:sp>
      <p:sp>
        <p:nvSpPr>
          <p:cNvPr id="9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63A0FF9E-B6F5-46A0-8C34-55090CED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933950"/>
            <a:ext cx="39528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2850" b="1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Institutional contract</a:t>
            </a:r>
          </a:p>
        </p:txBody>
      </p:sp>
      <p:sp>
        <p:nvSpPr>
          <p:cNvPr id="10" name="step-body-1">
            <a:extLst xmlns:a="http://schemas.openxmlformats.org/drawingml/2006/main">
              <a:ext uri="{FF2B5EF4-FFF2-40B4-BE49-F238E27FC236}">
                <a16:creationId xmlns:a16="http://schemas.microsoft.com/office/drawing/2014/main" id="{E5E19081-0375-4ECA-80C1-472ED082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6229350"/>
            <a:ext cx="39528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An adoption decision based on measured value and usability</a:t>
            </a:r>
          </a:p>
        </p:txBody>
      </p:sp>
      <p:sp>
        <p:nvSpPr>
          <p:cNvPr id="11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CC6944BB-6FF0-4BC2-94B9-6F58AEA0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609975"/>
            <a:ext cx="3952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1BB4BD"/>
                </a:solidFill>
                <a:latin typeface="Nimbus Sans"/>
                <a:ea typeface="Nimbus Sans"/>
                <a:cs typeface="Nimbus Sans"/>
              </a:defRPr>
            </a:pPr>
            <a:r>
              <a:rPr sz="5700" b="1">
                <a:solidFill>
                  <a:srgbClr val="1BB4BD"/>
                </a:solidFill>
                <a:latin typeface="Nimbus Sans"/>
                <a:ea typeface="Nimbus Sans"/>
                <a:cs typeface="Nimbus Sans"/>
              </a:rPr>
              <a:t>3</a:t>
            </a:r>
          </a:p>
        </p:txBody>
      </p:sp>
      <p:sp>
        <p:nvSpPr>
          <p:cNvPr id="12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A9320988-0860-4FEF-BE26-BF9A8FBC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933950"/>
            <a:ext cx="39528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2850" b="1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Specialist channels</a:t>
            </a:r>
          </a:p>
        </p:txBody>
      </p:sp>
      <p:sp>
        <p:nvSpPr>
          <p:cNvPr id="13" name="step-body-2">
            <a:extLst xmlns:a="http://schemas.openxmlformats.org/drawingml/2006/main">
              <a:ext uri="{FF2B5EF4-FFF2-40B4-BE49-F238E27FC236}">
                <a16:creationId xmlns:a16="http://schemas.microsoft.com/office/drawing/2014/main" id="{E5709C34-91C2-4638-83CA-F30CEA99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6229350"/>
            <a:ext cx="39528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Partnerships with OD consultancies and HR implementation teams</a:t>
            </a:r>
          </a:p>
        </p:txBody>
      </p:sp>
      <p:sp>
        <p:nvSpPr>
          <p:cNvPr id="14" name="slide-note">
            <a:extLst xmlns:a="http://schemas.openxmlformats.org/drawingml/2006/main">
              <a:ext uri="{FF2B5EF4-FFF2-40B4-BE49-F238E27FC236}">
                <a16:creationId xmlns:a16="http://schemas.microsoft.com/office/drawing/2014/main" id="{7E619C86-E3E7-40BD-A206-C26A2C0B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8448675"/>
            <a:ext cx="12249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E1E7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D7E1E7"/>
                </a:solidFill>
                <a:latin typeface="Nimbus Sans"/>
                <a:ea typeface="Nimbus Sans"/>
                <a:cs typeface="Nimbus Sans"/>
              </a:rPr>
              <a:t>Proposed plan, not existing contracts or partnerships</a:t>
            </a:r>
          </a:p>
        </p:txBody>
      </p:sp>
    </p:spTree>
    <p:extLst>
      <p:ext uri="{BB962C8B-B14F-4D97-AF65-F5344CB8AC3E}">
        <p14:creationId xmlns:p14="http://schemas.microsoft.com/office/powerpoint/2010/main" val="18333504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BB4B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brand">
            <a:extLst xmlns:a="http://schemas.openxmlformats.org/drawingml/2006/main">
              <a:ext uri="{FF2B5EF4-FFF2-40B4-BE49-F238E27FC236}">
                <a16:creationId xmlns:a16="http://schemas.microsoft.com/office/drawing/2014/main" id="{D3CEB407-9307-4DDE-8FBB-63BBB8A01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953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MIYAR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E4C4F8E4-F944-4CB5-84AD-8458A4BC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84872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E1E7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D7E1E7"/>
                </a:solidFill>
                <a:latin typeface="Nimbus Sans"/>
                <a:ea typeface="Nimbus Sans"/>
                <a:cs typeface="Nimbus Sans"/>
              </a:rPr>
              <a:t>14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D07B1CA-13AA-49BD-B923-5E72AA9B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76375"/>
            <a:ext cx="131540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4350" b="1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Progress to date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05EEB0CA-CB73-48E1-8048-83F66C80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43225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B1D"/>
          </a:solidFill>
          <a:ln xmlns:a="http://schemas.openxmlformats.org/drawingml/2006/main" w="0">
            <a:noFill/>
          </a:ln>
        </p:spPr>
      </p:sp>
      <p:sp>
        <p:nvSpPr>
          <p:cNvPr id="5" name="statement">
            <a:extLst xmlns:a="http://schemas.openxmlformats.org/drawingml/2006/main">
              <a:ext uri="{FF2B5EF4-FFF2-40B4-BE49-F238E27FC236}">
                <a16:creationId xmlns:a16="http://schemas.microsoft.com/office/drawing/2014/main" id="{2C1CE34D-C406-499D-BF88-345A7A55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131540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3750" b="1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A working platform available to try</a:t>
            </a:r>
          </a:p>
        </p:txBody>
      </p:sp>
      <p:sp>
        <p:nvSpPr>
          <p:cNvPr id="6" name="item-rule-0">
            <a:extLst xmlns:a="http://schemas.openxmlformats.org/drawingml/2006/main">
              <a:ext uri="{FF2B5EF4-FFF2-40B4-BE49-F238E27FC236}">
                <a16:creationId xmlns:a16="http://schemas.microsoft.com/office/drawing/2014/main" id="{D199C0E2-B960-497D-B740-9BC2C62BE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10225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B1D"/>
          </a:solidFill>
          <a:ln xmlns:a="http://schemas.openxmlformats.org/drawingml/2006/main" w="0">
            <a:noFill/>
          </a:ln>
        </p:spPr>
      </p:sp>
      <p:sp>
        <p:nvSpPr>
          <p:cNvPr id="7" name="item-0">
            <a:extLst xmlns:a="http://schemas.openxmlformats.org/drawingml/2006/main">
              <a:ext uri="{FF2B5EF4-FFF2-40B4-BE49-F238E27FC236}">
                <a16:creationId xmlns:a16="http://schemas.microsoft.com/office/drawing/2014/main" id="{6695DC89-8A3F-4319-B8E6-62617A75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438775"/>
            <a:ext cx="128682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2850" b="0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Arabic and English interfaces with an editable example</a:t>
            </a:r>
          </a:p>
        </p:txBody>
      </p:sp>
      <p:sp>
        <p:nvSpPr>
          <p:cNvPr id="8" name="item-rule-1">
            <a:extLst xmlns:a="http://schemas.openxmlformats.org/drawingml/2006/main">
              <a:ext uri="{FF2B5EF4-FFF2-40B4-BE49-F238E27FC236}">
                <a16:creationId xmlns:a16="http://schemas.microsoft.com/office/drawing/2014/main" id="{2D667C3B-820A-41D2-99F4-719AC4C05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562725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B1D"/>
          </a:solidFill>
          <a:ln xmlns:a="http://schemas.openxmlformats.org/drawingml/2006/main" w="0">
            <a:noFill/>
          </a:ln>
        </p:spPr>
      </p:sp>
      <p:sp>
        <p:nvSpPr>
          <p:cNvPr id="9" name="item-1">
            <a:extLst xmlns:a="http://schemas.openxmlformats.org/drawingml/2006/main">
              <a:ext uri="{FF2B5EF4-FFF2-40B4-BE49-F238E27FC236}">
                <a16:creationId xmlns:a16="http://schemas.microsoft.com/office/drawing/2014/main" id="{402FB969-8EA5-4F35-ADD8-19911E109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391275"/>
            <a:ext cx="128682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2850" b="0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Position records, reviews and revision history</a:t>
            </a:r>
          </a:p>
        </p:txBody>
      </p:sp>
      <p:sp>
        <p:nvSpPr>
          <p:cNvPr id="10" name="item-rule-2">
            <a:extLst xmlns:a="http://schemas.openxmlformats.org/drawingml/2006/main">
              <a:ext uri="{FF2B5EF4-FFF2-40B4-BE49-F238E27FC236}">
                <a16:creationId xmlns:a16="http://schemas.microsoft.com/office/drawing/2014/main" id="{13E7229A-D8DB-477E-ADF8-50B4A7C2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515225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B1D"/>
          </a:solidFill>
          <a:ln xmlns:a="http://schemas.openxmlformats.org/drawingml/2006/main" w="0">
            <a:noFill/>
          </a:ln>
        </p:spPr>
      </p:sp>
      <p:sp>
        <p:nvSpPr>
          <p:cNvPr id="11" name="item-2">
            <a:extLst xmlns:a="http://schemas.openxmlformats.org/drawingml/2006/main">
              <a:ext uri="{FF2B5EF4-FFF2-40B4-BE49-F238E27FC236}">
                <a16:creationId xmlns:a16="http://schemas.microsoft.com/office/drawing/2014/main" id="{D6875732-2BDC-4B1D-B3E1-D6160A80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343775"/>
            <a:ext cx="128682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2850" b="0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PDF, Word and Excel exports</a:t>
            </a:r>
          </a:p>
        </p:txBody>
      </p:sp>
      <p:sp>
        <p:nvSpPr>
          <p:cNvPr id="12" name="slide-note">
            <a:extLst xmlns:a="http://schemas.openxmlformats.org/drawingml/2006/main">
              <a:ext uri="{FF2B5EF4-FFF2-40B4-BE49-F238E27FC236}">
                <a16:creationId xmlns:a16="http://schemas.microsoft.com/office/drawing/2014/main" id="{0386D7BE-3D0F-4057-8109-5074AF82F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8448675"/>
            <a:ext cx="12249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E1E7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D7E1E7"/>
                </a:solidFill>
                <a:latin typeface="Nimbus Sans"/>
                <a:ea typeface="Nimbus Sans"/>
                <a:cs typeface="Nimbus Sans"/>
              </a:rPr>
              <a:t>Next milestone: measure value with a pilot institution</a:t>
            </a:r>
          </a:p>
        </p:txBody>
      </p:sp>
    </p:spTree>
    <p:extLst>
      <p:ext uri="{BB962C8B-B14F-4D97-AF65-F5344CB8AC3E}">
        <p14:creationId xmlns:p14="http://schemas.microsoft.com/office/powerpoint/2010/main" val="150029683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brand">
            <a:extLst xmlns:a="http://schemas.openxmlformats.org/drawingml/2006/main">
              <a:ext uri="{FF2B5EF4-FFF2-40B4-BE49-F238E27FC236}">
                <a16:creationId xmlns:a16="http://schemas.microsoft.com/office/drawing/2014/main" id="{4E345042-8F16-42A3-ABD5-5E7603FF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953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0C0B1D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0C0B1D"/>
                </a:solidFill>
                <a:latin typeface="Nimbus Sans"/>
                <a:ea typeface="Nimbus Sans"/>
                <a:cs typeface="Nimbus Sans"/>
              </a:rPr>
              <a:t>MIYAR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CEED6E22-A6D5-4DAF-BBC8-15A957DD6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84872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C5262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C5262"/>
                </a:solidFill>
                <a:latin typeface="Nimbus Sans"/>
                <a:ea typeface="Nimbus Sans"/>
                <a:cs typeface="Nimbus Sans"/>
              </a:rPr>
              <a:t>15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C3C1DC5-4054-4F44-B23F-49FFCD9C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76375"/>
            <a:ext cx="131540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C0B1D"/>
                </a:solidFill>
                <a:latin typeface="Nimbus Sans"/>
                <a:ea typeface="Nimbus Sans"/>
                <a:cs typeface="Nimbus Sans"/>
              </a:defRPr>
            </a:pPr>
            <a:r>
              <a:rPr sz="4350" b="1">
                <a:solidFill>
                  <a:srgbClr val="0C0B1D"/>
                </a:solidFill>
                <a:latin typeface="Nimbus Sans"/>
                <a:ea typeface="Nimbus Sans"/>
                <a:cs typeface="Nimbus Sans"/>
              </a:rPr>
              <a:t>Current capabilities and expansion plan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6A101F58-CB4E-4231-AA2C-6AD66CF4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43225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5" name="column-title-0">
            <a:extLst xmlns:a="http://schemas.openxmlformats.org/drawingml/2006/main">
              <a:ext uri="{FF2B5EF4-FFF2-40B4-BE49-F238E27FC236}">
                <a16:creationId xmlns:a16="http://schemas.microsoft.com/office/drawing/2014/main" id="{D149AF6F-C40C-40AE-81F5-A2F37996B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62350"/>
            <a:ext cx="6057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BB4BD"/>
                </a:solidFill>
                <a:latin typeface="Nimbus Sans"/>
                <a:ea typeface="Nimbus Sans"/>
                <a:cs typeface="Nimbus Sans"/>
              </a:defRPr>
            </a:pPr>
            <a:r>
              <a:rPr sz="2850" b="1">
                <a:solidFill>
                  <a:srgbClr val="1BB4BD"/>
                </a:solidFill>
                <a:latin typeface="Nimbus Sans"/>
                <a:ea typeface="Nimbus Sans"/>
                <a:cs typeface="Nimbus Sans"/>
              </a:rPr>
              <a:t>Available now</a:t>
            </a:r>
          </a:p>
        </p:txBody>
      </p:sp>
      <p:sp>
        <p:nvSpPr>
          <p:cNvPr id="6" name="item-rule-0">
            <a:extLst xmlns:a="http://schemas.openxmlformats.org/drawingml/2006/main">
              <a:ext uri="{FF2B5EF4-FFF2-40B4-BE49-F238E27FC236}">
                <a16:creationId xmlns:a16="http://schemas.microsoft.com/office/drawing/2014/main" id="{DB5DAA43-7B7E-4E2F-A92A-F66CC7CB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48225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7" name="item-0">
            <a:extLst xmlns:a="http://schemas.openxmlformats.org/drawingml/2006/main">
              <a:ext uri="{FF2B5EF4-FFF2-40B4-BE49-F238E27FC236}">
                <a16:creationId xmlns:a16="http://schemas.microsoft.com/office/drawing/2014/main" id="{BFEA7EC9-A80A-4F03-8EED-0DB9D07E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76775"/>
            <a:ext cx="57721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C0B1D"/>
                </a:solidFill>
                <a:latin typeface="Nimbus Sans"/>
                <a:ea typeface="Nimbus Sans"/>
                <a:cs typeface="Nimbus Sans"/>
              </a:defRPr>
            </a:pPr>
            <a:r>
              <a:rPr sz="2550" b="0">
                <a:solidFill>
                  <a:srgbClr val="0C0B1D"/>
                </a:solidFill>
                <a:latin typeface="Nimbus Sans"/>
                <a:ea typeface="Nimbus Sans"/>
                <a:cs typeface="Nimbus Sans"/>
              </a:rPr>
              <a:t>Reference search and KPI suggestions from local rules</a:t>
            </a:r>
          </a:p>
        </p:txBody>
      </p:sp>
      <p:sp>
        <p:nvSpPr>
          <p:cNvPr id="8" name="item-rule-1">
            <a:extLst xmlns:a="http://schemas.openxmlformats.org/drawingml/2006/main">
              <a:ext uri="{FF2B5EF4-FFF2-40B4-BE49-F238E27FC236}">
                <a16:creationId xmlns:a16="http://schemas.microsoft.com/office/drawing/2014/main" id="{8251A96E-B0F0-4F2C-9BD4-AE61A2524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0550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9" name="item-1">
            <a:extLst xmlns:a="http://schemas.openxmlformats.org/drawingml/2006/main">
              <a:ext uri="{FF2B5EF4-FFF2-40B4-BE49-F238E27FC236}">
                <a16:creationId xmlns:a16="http://schemas.microsoft.com/office/drawing/2014/main" id="{3BF65498-2491-4B3A-9788-A49C77FA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734050"/>
            <a:ext cx="57721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C0B1D"/>
                </a:solidFill>
                <a:latin typeface="Nimbus Sans"/>
                <a:ea typeface="Nimbus Sans"/>
                <a:cs typeface="Nimbus Sans"/>
              </a:defRPr>
            </a:pPr>
            <a:r>
              <a:rPr sz="2550" b="0">
                <a:solidFill>
                  <a:srgbClr val="0C0B1D"/>
                </a:solidFill>
                <a:latin typeface="Nimbus Sans"/>
                <a:ea typeface="Nimbus Sans"/>
                <a:cs typeface="Nimbus Sans"/>
              </a:rPr>
              <a:t>Organization grading and external specialist reports</a:t>
            </a:r>
          </a:p>
        </p:txBody>
      </p:sp>
      <p:sp>
        <p:nvSpPr>
          <p:cNvPr id="10" name="item-rule-2">
            <a:extLst xmlns:a="http://schemas.openxmlformats.org/drawingml/2006/main">
              <a:ext uri="{FF2B5EF4-FFF2-40B4-BE49-F238E27FC236}">
                <a16:creationId xmlns:a16="http://schemas.microsoft.com/office/drawing/2014/main" id="{2C457444-2A9B-42C3-8659-E91E2005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962775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11" name="item-2">
            <a:extLst xmlns:a="http://schemas.openxmlformats.org/drawingml/2006/main">
              <a:ext uri="{FF2B5EF4-FFF2-40B4-BE49-F238E27FC236}">
                <a16:creationId xmlns:a16="http://schemas.microsoft.com/office/drawing/2014/main" id="{FAFE1C64-BF96-4408-8C68-304D930C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791325"/>
            <a:ext cx="57721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C0B1D"/>
                </a:solidFill>
                <a:latin typeface="Nimbus Sans"/>
                <a:ea typeface="Nimbus Sans"/>
                <a:cs typeface="Nimbus Sans"/>
              </a:defRPr>
            </a:pPr>
            <a:r>
              <a:rPr sz="2550" b="0">
                <a:solidFill>
                  <a:srgbClr val="0C0B1D"/>
                </a:solidFill>
                <a:latin typeface="Nimbus Sans"/>
                <a:ea typeface="Nimbus Sans"/>
                <a:cs typeface="Nimbus Sans"/>
              </a:rPr>
              <a:t>Professional alerts and requirement-source review</a:t>
            </a:r>
          </a:p>
        </p:txBody>
      </p:sp>
      <p:sp>
        <p:nvSpPr>
          <p:cNvPr id="12" name="column-title-1">
            <a:extLst xmlns:a="http://schemas.openxmlformats.org/drawingml/2006/main">
              <a:ext uri="{FF2B5EF4-FFF2-40B4-BE49-F238E27FC236}">
                <a16:creationId xmlns:a16="http://schemas.microsoft.com/office/drawing/2014/main" id="{F6A030B5-B57B-4B44-9F35-04016275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562350"/>
            <a:ext cx="6057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BB4BD"/>
                </a:solidFill>
                <a:latin typeface="Nimbus Sans"/>
                <a:ea typeface="Nimbus Sans"/>
                <a:cs typeface="Nimbus Sans"/>
              </a:defRPr>
            </a:pPr>
            <a:r>
              <a:rPr sz="2850" b="1">
                <a:solidFill>
                  <a:srgbClr val="1BB4BD"/>
                </a:solidFill>
                <a:latin typeface="Nimbus Sans"/>
                <a:ea typeface="Nimbus Sans"/>
                <a:cs typeface="Nimbus Sans"/>
              </a:rPr>
              <a:t>To activate and validate</a:t>
            </a:r>
          </a:p>
        </p:txBody>
      </p:sp>
      <p:sp>
        <p:nvSpPr>
          <p:cNvPr id="13" name="item-rule-0">
            <a:extLst xmlns:a="http://schemas.openxmlformats.org/drawingml/2006/main">
              <a:ext uri="{FF2B5EF4-FFF2-40B4-BE49-F238E27FC236}">
                <a16:creationId xmlns:a16="http://schemas.microsoft.com/office/drawing/2014/main" id="{9A751EAE-A6D5-495F-A700-ECE5ACFE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848225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14" name="item-0">
            <a:extLst xmlns:a="http://schemas.openxmlformats.org/drawingml/2006/main">
              <a:ext uri="{FF2B5EF4-FFF2-40B4-BE49-F238E27FC236}">
                <a16:creationId xmlns:a16="http://schemas.microsoft.com/office/drawing/2014/main" id="{FE9A8A89-55F6-4F0C-9500-0F95F8E0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76775"/>
            <a:ext cx="57721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C0B1D"/>
                </a:solidFill>
                <a:latin typeface="Nimbus Sans"/>
                <a:ea typeface="Nimbus Sans"/>
                <a:cs typeface="Nimbus Sans"/>
              </a:defRPr>
            </a:pPr>
            <a:r>
              <a:rPr sz="2550" b="0">
                <a:solidFill>
                  <a:srgbClr val="0C0B1D"/>
                </a:solidFill>
                <a:latin typeface="Nimbus Sans"/>
                <a:ea typeface="Nimbus Sans"/>
                <a:cs typeface="Nimbus Sans"/>
              </a:rPr>
              <a:t>Generative and semantic models evaluated by specialists</a:t>
            </a:r>
          </a:p>
        </p:txBody>
      </p:sp>
      <p:sp>
        <p:nvSpPr>
          <p:cNvPr id="15" name="item-rule-1">
            <a:extLst xmlns:a="http://schemas.openxmlformats.org/drawingml/2006/main">
              <a:ext uri="{FF2B5EF4-FFF2-40B4-BE49-F238E27FC236}">
                <a16:creationId xmlns:a16="http://schemas.microsoft.com/office/drawing/2014/main" id="{AF1B3D93-029B-4E9A-865A-479FDACC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90550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16" name="item-1">
            <a:extLst xmlns:a="http://schemas.openxmlformats.org/drawingml/2006/main">
              <a:ext uri="{FF2B5EF4-FFF2-40B4-BE49-F238E27FC236}">
                <a16:creationId xmlns:a16="http://schemas.microsoft.com/office/drawing/2014/main" id="{5711133F-4F7C-4644-B036-2B43B9AD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734050"/>
            <a:ext cx="57721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C0B1D"/>
                </a:solidFill>
                <a:latin typeface="Nimbus Sans"/>
                <a:ea typeface="Nimbus Sans"/>
                <a:cs typeface="Nimbus Sans"/>
              </a:defRPr>
            </a:pPr>
            <a:r>
              <a:rPr sz="2550" b="0">
                <a:solidFill>
                  <a:srgbClr val="0C0B1D"/>
                </a:solidFill>
                <a:latin typeface="Nimbus Sans"/>
                <a:ea typeface="Nimbus Sans"/>
                <a:cs typeface="Nimbus Sans"/>
              </a:rPr>
              <a:t>Authorized integrations with organization systems</a:t>
            </a:r>
          </a:p>
        </p:txBody>
      </p:sp>
      <p:sp>
        <p:nvSpPr>
          <p:cNvPr id="17" name="item-rule-2">
            <a:extLst xmlns:a="http://schemas.openxmlformats.org/drawingml/2006/main">
              <a:ext uri="{FF2B5EF4-FFF2-40B4-BE49-F238E27FC236}">
                <a16:creationId xmlns:a16="http://schemas.microsoft.com/office/drawing/2014/main" id="{A0EC2A52-19AC-4DEF-A5D1-114595C0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962775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18" name="item-2">
            <a:extLst xmlns:a="http://schemas.openxmlformats.org/drawingml/2006/main">
              <a:ext uri="{FF2B5EF4-FFF2-40B4-BE49-F238E27FC236}">
                <a16:creationId xmlns:a16="http://schemas.microsoft.com/office/drawing/2014/main" id="{638E592D-EB2F-4A16-8D65-B0FA15CE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6791325"/>
            <a:ext cx="57721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C0B1D"/>
                </a:solidFill>
                <a:latin typeface="Nimbus Sans"/>
                <a:ea typeface="Nimbus Sans"/>
                <a:cs typeface="Nimbus Sans"/>
              </a:defRPr>
            </a:pPr>
            <a:r>
              <a:rPr sz="2550" b="0">
                <a:solidFill>
                  <a:srgbClr val="0C0B1D"/>
                </a:solidFill>
                <a:latin typeface="Nimbus Sans"/>
                <a:ea typeface="Nimbus Sans"/>
                <a:cs typeface="Nimbus Sans"/>
              </a:rPr>
              <a:t>Measure accuracy, time and cost in a field pilot</a:t>
            </a:r>
          </a:p>
        </p:txBody>
      </p:sp>
      <p:sp>
        <p:nvSpPr>
          <p:cNvPr id="19" name="slide-note">
            <a:extLst xmlns:a="http://schemas.openxmlformats.org/drawingml/2006/main">
              <a:ext uri="{FF2B5EF4-FFF2-40B4-BE49-F238E27FC236}">
                <a16:creationId xmlns:a16="http://schemas.microsoft.com/office/drawing/2014/main" id="{3B277DDB-0F21-4FDF-9A0C-B0694B55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8448675"/>
            <a:ext cx="12249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C5262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C5262"/>
                </a:solidFill>
                <a:latin typeface="Nimbus Sans"/>
                <a:ea typeface="Nimbus Sans"/>
                <a:cs typeface="Nimbus Sans"/>
              </a:rPr>
              <a:t>Miyar does not calculate proprietary Korn Ferry scores or automatically guarantee compliance</a:t>
            </a:r>
          </a:p>
        </p:txBody>
      </p:sp>
    </p:spTree>
    <p:extLst>
      <p:ext uri="{BB962C8B-B14F-4D97-AF65-F5344CB8AC3E}">
        <p14:creationId xmlns:p14="http://schemas.microsoft.com/office/powerpoint/2010/main" val="80301106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C0B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brand">
            <a:extLst xmlns:a="http://schemas.openxmlformats.org/drawingml/2006/main">
              <a:ext uri="{FF2B5EF4-FFF2-40B4-BE49-F238E27FC236}">
                <a16:creationId xmlns:a16="http://schemas.microsoft.com/office/drawing/2014/main" id="{29E2EC9A-863C-4940-B0AF-CB91AAA2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953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MIYAR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AACA9A8B-DBBC-4527-8E3A-BA654248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84872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E1E7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D7E1E7"/>
                </a:solidFill>
                <a:latin typeface="Nimbus Sans"/>
                <a:ea typeface="Nimbus Sans"/>
                <a:cs typeface="Nimbus Sans"/>
              </a:rPr>
              <a:t>16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0C47B6C-7B8A-4294-B9D7-5957FABF9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76375"/>
            <a:ext cx="131540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4350" b="1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A measurable institutional pilot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63ADECFC-AC9A-4A8D-8DA7-7FDF808D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43225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5" name="metric-value-0">
            <a:extLst xmlns:a="http://schemas.openxmlformats.org/drawingml/2006/main">
              <a:ext uri="{FF2B5EF4-FFF2-40B4-BE49-F238E27FC236}">
                <a16:creationId xmlns:a16="http://schemas.microsoft.com/office/drawing/2014/main" id="{0273ED71-0194-48B3-86AB-262293B9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71875"/>
            <a:ext cx="40036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100" b="1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8100" b="1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4</a:t>
            </a:r>
          </a:p>
        </p:txBody>
      </p:sp>
      <p:sp>
        <p:nvSpPr>
          <p:cNvPr id="6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0957EE1D-8444-4C03-A207-536931D55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19700"/>
            <a:ext cx="40036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0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2775" b="0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weeks</a:t>
            </a:r>
          </a:p>
        </p:txBody>
      </p:sp>
      <p:sp>
        <p:nvSpPr>
          <p:cNvPr id="7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3D9F982B-FCEC-47A5-8371-6B2ABF16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2425" y="3571875"/>
            <a:ext cx="40036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100" b="1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8100" b="1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20</a:t>
            </a:r>
          </a:p>
        </p:txBody>
      </p:sp>
      <p:sp>
        <p:nvSpPr>
          <p:cNvPr id="8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DCDA8B79-89D2-462F-B8ED-F9FDC88F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2425" y="5219700"/>
            <a:ext cx="40036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0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2775" b="0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positions</a:t>
            </a:r>
          </a:p>
        </p:txBody>
      </p:sp>
      <p:sp>
        <p:nvSpPr>
          <p:cNvPr id="9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7ED43037-B79B-4ACB-A8E6-9A2026DC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100" y="3571875"/>
            <a:ext cx="40036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100" b="1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8100" b="1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2</a:t>
            </a:r>
          </a:p>
        </p:txBody>
      </p:sp>
      <p:sp>
        <p:nvSpPr>
          <p:cNvPr id="10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27EE474A-D15F-4EAE-9612-4564F84C4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100" y="5219700"/>
            <a:ext cx="40036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0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2775" b="0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departments</a:t>
            </a:r>
          </a:p>
        </p:txBody>
      </p:sp>
      <p:sp>
        <p:nvSpPr>
          <p:cNvPr id="11" name="item-rule-0">
            <a:extLst xmlns:a="http://schemas.openxmlformats.org/drawingml/2006/main">
              <a:ext uri="{FF2B5EF4-FFF2-40B4-BE49-F238E27FC236}">
                <a16:creationId xmlns:a16="http://schemas.microsoft.com/office/drawing/2014/main" id="{4EF02B61-4017-494B-A397-5C82F3C4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1035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12" name="item-0">
            <a:extLst xmlns:a="http://schemas.openxmlformats.org/drawingml/2006/main">
              <a:ext uri="{FF2B5EF4-FFF2-40B4-BE49-F238E27FC236}">
                <a16:creationId xmlns:a16="http://schemas.microsoft.com/office/drawing/2014/main" id="{F2050A73-B9E9-4343-A1AF-950C3F61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38900"/>
            <a:ext cx="128682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Compare package-preparation time before and during the pilot</a:t>
            </a:r>
          </a:p>
        </p:txBody>
      </p:sp>
      <p:sp>
        <p:nvSpPr>
          <p:cNvPr id="13" name="item-rule-1">
            <a:extLst xmlns:a="http://schemas.openxmlformats.org/drawingml/2006/main">
              <a:ext uri="{FF2B5EF4-FFF2-40B4-BE49-F238E27FC236}">
                <a16:creationId xmlns:a16="http://schemas.microsoft.com/office/drawing/2014/main" id="{1EAF950B-72F1-4A35-8E73-F15149C1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210425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14" name="item-1">
            <a:extLst xmlns:a="http://schemas.openxmlformats.org/drawingml/2006/main">
              <a:ext uri="{FF2B5EF4-FFF2-40B4-BE49-F238E27FC236}">
                <a16:creationId xmlns:a16="http://schemas.microsoft.com/office/drawing/2014/main" id="{B942E719-8C11-4BAB-822F-5ECF6AC9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38975"/>
            <a:ext cx="128682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Measure evidence completeness and reviewer agreement</a:t>
            </a:r>
          </a:p>
        </p:txBody>
      </p:sp>
      <p:sp>
        <p:nvSpPr>
          <p:cNvPr id="15" name="item-rule-2">
            <a:extLst xmlns:a="http://schemas.openxmlformats.org/drawingml/2006/main">
              <a:ext uri="{FF2B5EF4-FFF2-40B4-BE49-F238E27FC236}">
                <a16:creationId xmlns:a16="http://schemas.microsoft.com/office/drawing/2014/main" id="{D20F6089-0262-456A-B877-BD89E98F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81050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16" name="item-2">
            <a:extLst xmlns:a="http://schemas.openxmlformats.org/drawingml/2006/main">
              <a:ext uri="{FF2B5EF4-FFF2-40B4-BE49-F238E27FC236}">
                <a16:creationId xmlns:a16="http://schemas.microsoft.com/office/drawing/2014/main" id="{1873C5D6-F931-418D-9DC4-6865FB23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639050"/>
            <a:ext cx="128682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Document feedback and the final adoption decision</a:t>
            </a:r>
          </a:p>
        </p:txBody>
      </p:sp>
      <p:sp>
        <p:nvSpPr>
          <p:cNvPr id="17" name="slide-note">
            <a:extLst xmlns:a="http://schemas.openxmlformats.org/drawingml/2006/main">
              <a:ext uri="{FF2B5EF4-FFF2-40B4-BE49-F238E27FC236}">
                <a16:creationId xmlns:a16="http://schemas.microsoft.com/office/drawing/2014/main" id="{9A151F78-87D4-498D-9EF1-D9D23612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8448675"/>
            <a:ext cx="12249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E1E7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D7E1E7"/>
                </a:solidFill>
                <a:latin typeface="Nimbus Sans"/>
                <a:ea typeface="Nimbus Sans"/>
                <a:cs typeface="Nimbus Sans"/>
              </a:rPr>
              <a:t>Proposed scope to agree with the partner; these numbers are not achieved results</a:t>
            </a:r>
          </a:p>
        </p:txBody>
      </p:sp>
    </p:spTree>
    <p:extLst>
      <p:ext uri="{BB962C8B-B14F-4D97-AF65-F5344CB8AC3E}">
        <p14:creationId xmlns:p14="http://schemas.microsoft.com/office/powerpoint/2010/main" val="97772815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brand">
            <a:extLst xmlns:a="http://schemas.openxmlformats.org/drawingml/2006/main">
              <a:ext uri="{FF2B5EF4-FFF2-40B4-BE49-F238E27FC236}">
                <a16:creationId xmlns:a16="http://schemas.microsoft.com/office/drawing/2014/main" id="{088B4D88-04D8-4554-A55B-8B0DCC17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953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0C0B1D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0C0B1D"/>
                </a:solidFill>
                <a:latin typeface="Nimbus Sans"/>
                <a:ea typeface="Nimbus Sans"/>
                <a:cs typeface="Nimbus Sans"/>
              </a:rPr>
              <a:t>MIYAR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9B59905C-E868-4737-9289-943E3D81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84872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C5262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C5262"/>
                </a:solidFill>
                <a:latin typeface="Nimbus Sans"/>
                <a:ea typeface="Nimbus Sans"/>
                <a:cs typeface="Nimbus Sans"/>
              </a:rPr>
              <a:t>17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C510E4-214B-4BF8-BE31-025FC166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76375"/>
            <a:ext cx="131540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C0B1D"/>
                </a:solidFill>
                <a:latin typeface="Nimbus Sans"/>
                <a:ea typeface="Nimbus Sans"/>
                <a:cs typeface="Nimbus Sans"/>
              </a:defRPr>
            </a:pPr>
            <a:r>
              <a:rPr sz="4350" b="1">
                <a:solidFill>
                  <a:srgbClr val="0C0B1D"/>
                </a:solidFill>
                <a:latin typeface="Nimbus Sans"/>
                <a:ea typeface="Nimbus Sans"/>
                <a:cs typeface="Nimbus Sans"/>
              </a:rPr>
              <a:t>The Miyar team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FEC9B56E-658E-4D60-8DF3-D0305503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43225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5" name="person-rule-0">
            <a:extLst xmlns:a="http://schemas.openxmlformats.org/drawingml/2006/main">
              <a:ext uri="{FF2B5EF4-FFF2-40B4-BE49-F238E27FC236}">
                <a16:creationId xmlns:a16="http://schemas.microsoft.com/office/drawing/2014/main" id="{EFAF9EB9-0AE1-4B98-B0E0-14498E7D8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862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6" name="person-name-0">
            <a:extLst xmlns:a="http://schemas.openxmlformats.org/drawingml/2006/main">
              <a:ext uri="{FF2B5EF4-FFF2-40B4-BE49-F238E27FC236}">
                <a16:creationId xmlns:a16="http://schemas.microsoft.com/office/drawing/2014/main" id="{5F3FF176-381B-41D3-829D-91510796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91025"/>
            <a:ext cx="6248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C0B1D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0C0B1D"/>
                </a:solidFill>
                <a:latin typeface="Nimbus Sans"/>
                <a:ea typeface="Nimbus Sans"/>
                <a:cs typeface="Nimbus Sans"/>
              </a:rPr>
              <a:t>Prof. Adeeb Noor</a:t>
            </a:r>
          </a:p>
        </p:txBody>
      </p:sp>
      <p:sp>
        <p:nvSpPr>
          <p:cNvPr id="7" name="person-detail-0">
            <a:extLst xmlns:a="http://schemas.openxmlformats.org/drawingml/2006/main">
              <a:ext uri="{FF2B5EF4-FFF2-40B4-BE49-F238E27FC236}">
                <a16:creationId xmlns:a16="http://schemas.microsoft.com/office/drawing/2014/main" id="{03D4820B-D0E8-4D49-AC38-012EFB1B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86425"/>
            <a:ext cx="62484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4C5262"/>
                </a:solidFill>
                <a:latin typeface="Nimbus Sans"/>
                <a:ea typeface="Nimbus Sans"/>
                <a:cs typeface="Nimbus Sans"/>
              </a:defRPr>
            </a:pPr>
            <a:r>
              <a:rPr sz="2550" b="0">
                <a:solidFill>
                  <a:srgbClr val="4C5262"/>
                </a:solidFill>
                <a:latin typeface="Nimbus Sans"/>
                <a:ea typeface="Nimbus Sans"/>
                <a:cs typeface="Nimbus Sans"/>
              </a:rPr>
              <a:t>King Abdulaziz University</a:t>
            </a:r>
          </a:p>
          <a:p xmlns:a="http://schemas.openxmlformats.org/drawingml/2006/main">
            <a:pPr algn="l">
              <a:defRPr sz="2550" b="0">
                <a:solidFill>
                  <a:srgbClr val="4C5262"/>
                </a:solidFill>
                <a:latin typeface="Nimbus Sans"/>
                <a:ea typeface="Nimbus Sans"/>
                <a:cs typeface="Nimbus Sans"/>
              </a:defRPr>
            </a:pPr>
            <a:r>
              <a:rPr sz="2550" b="0">
                <a:solidFill>
                  <a:srgbClr val="4C5262"/>
                </a:solidFill>
                <a:latin typeface="Nimbus Sans"/>
                <a:ea typeface="Nimbus Sans"/>
                <a:cs typeface="Nimbus Sans"/>
              </a:rPr>
              <a:t>Faculty of Computing and Information Technology</a:t>
            </a:r>
          </a:p>
        </p:txBody>
      </p:sp>
      <p:sp>
        <p:nvSpPr>
          <p:cNvPr id="8" name="person-rule-1">
            <a:extLst xmlns:a="http://schemas.openxmlformats.org/drawingml/2006/main">
              <a:ext uri="{FF2B5EF4-FFF2-40B4-BE49-F238E27FC236}">
                <a16:creationId xmlns:a16="http://schemas.microsoft.com/office/drawing/2014/main" id="{2F49795A-5F28-4929-89B0-6559C7E3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862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9" name="person-name-1">
            <a:extLst xmlns:a="http://schemas.openxmlformats.org/drawingml/2006/main">
              <a:ext uri="{FF2B5EF4-FFF2-40B4-BE49-F238E27FC236}">
                <a16:creationId xmlns:a16="http://schemas.microsoft.com/office/drawing/2014/main" id="{54BFC8A5-DFE4-4B88-8EF3-3C9D59C5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91025"/>
            <a:ext cx="6248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C0B1D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0C0B1D"/>
                </a:solidFill>
                <a:latin typeface="Nimbus Sans"/>
                <a:ea typeface="Nimbus Sans"/>
                <a:cs typeface="Nimbus Sans"/>
              </a:rPr>
              <a:t>Ahmad Raza Khan</a:t>
            </a:r>
          </a:p>
        </p:txBody>
      </p:sp>
      <p:sp>
        <p:nvSpPr>
          <p:cNvPr id="10" name="person-detail-1">
            <a:extLst xmlns:a="http://schemas.openxmlformats.org/drawingml/2006/main">
              <a:ext uri="{FF2B5EF4-FFF2-40B4-BE49-F238E27FC236}">
                <a16:creationId xmlns:a16="http://schemas.microsoft.com/office/drawing/2014/main" id="{BCED091E-7F75-465D-AC7C-24B274C8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686425"/>
            <a:ext cx="62484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4C5262"/>
                </a:solidFill>
                <a:latin typeface="Nimbus Sans"/>
                <a:ea typeface="Nimbus Sans"/>
                <a:cs typeface="Nimbus Sans"/>
              </a:defRPr>
            </a:pPr>
            <a:r>
              <a:rPr sz="2550" b="0">
                <a:solidFill>
                  <a:srgbClr val="4C5262"/>
                </a:solidFill>
                <a:latin typeface="Nimbus Sans"/>
                <a:ea typeface="Nimbus Sans"/>
                <a:cs typeface="Nimbus Sans"/>
              </a:rPr>
              <a:t>Miyar project team</a:t>
            </a:r>
          </a:p>
        </p:txBody>
      </p:sp>
      <p:sp>
        <p:nvSpPr>
          <p:cNvPr id="11" name="slide-note">
            <a:extLst xmlns:a="http://schemas.openxmlformats.org/drawingml/2006/main">
              <a:ext uri="{FF2B5EF4-FFF2-40B4-BE49-F238E27FC236}">
                <a16:creationId xmlns:a16="http://schemas.microsoft.com/office/drawing/2014/main" id="{BBD9DC36-895D-49F3-818E-BA13D428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8448675"/>
            <a:ext cx="12249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C5262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C5262"/>
                </a:solidFill>
                <a:latin typeface="Nimbus Sans"/>
                <a:ea typeface="Nimbus Sans"/>
                <a:cs typeface="Nimbus Sans"/>
              </a:rPr>
              <a:t>We welcome OD and job-evaluation specialists to participate in the pilot</a:t>
            </a:r>
          </a:p>
        </p:txBody>
      </p:sp>
    </p:spTree>
    <p:extLst>
      <p:ext uri="{BB962C8B-B14F-4D97-AF65-F5344CB8AC3E}">
        <p14:creationId xmlns:p14="http://schemas.microsoft.com/office/powerpoint/2010/main" val="204255637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C0B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a67b2f79074cd6"/>
          <a:srcRect xmlns:a="http://schemas.openxmlformats.org/drawingml/2006/main" l="0" t="69" r="0" b="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9525" cy="9525000"/>
          </a:xfrm>
          <a:prstGeom xmlns:a="http://schemas.openxmlformats.org/drawingml/2006/main" prst="rect">
            <a:avLst/>
          </a:prstGeom>
        </p:spPr>
      </p:pic>
      <p:sp>
        <p:nvSpPr>
          <p:cNvPr id="2" name="photo-legibility-overlay">
            <a:extLst xmlns:a="http://schemas.openxmlformats.org/drawingml/2006/main">
              <a:ext uri="{FF2B5EF4-FFF2-40B4-BE49-F238E27FC236}">
                <a16:creationId xmlns:a16="http://schemas.microsoft.com/office/drawing/2014/main" id="{D27F940F-346C-4F81-A6F3-D94F2AC7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9525" cy="952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B1D">
              <a:alpha val="58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315FBC52-902C-49D8-89DB-F96C5F3F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953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MIYAR</a:t>
            </a:r>
          </a:p>
        </p:txBody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FA00148E-7DFA-49DC-BF41-48F241E4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84872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E1E7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D7E1E7"/>
                </a:solidFill>
                <a:latin typeface="Nimbus Sans"/>
                <a:ea typeface="Nimbus Sans"/>
                <a:cs typeface="Nimbus Sans"/>
              </a:rPr>
              <a:t>18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3E101E2-6B1E-4DDE-BD34-90B74CE8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76375"/>
            <a:ext cx="131540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4350" b="1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The ask for the innovation center</a:t>
            </a:r>
          </a:p>
        </p:txBody>
      </p:sp>
      <p:sp>
        <p:nvSpPr>
          <p:cNvPr id="6" name="title-rule">
            <a:extLst xmlns:a="http://schemas.openxmlformats.org/drawingml/2006/main">
              <a:ext uri="{FF2B5EF4-FFF2-40B4-BE49-F238E27FC236}">
                <a16:creationId xmlns:a16="http://schemas.microsoft.com/office/drawing/2014/main" id="{E031C091-0103-4089-850E-0227CB35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43225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7" name="statement">
            <a:extLst xmlns:a="http://schemas.openxmlformats.org/drawingml/2006/main">
              <a:ext uri="{FF2B5EF4-FFF2-40B4-BE49-F238E27FC236}">
                <a16:creationId xmlns:a16="http://schemas.microsoft.com/office/drawing/2014/main" id="{E3D906E8-B505-4B58-B849-7E727348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131540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3750" b="1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An institutional partner to pilot Miyar</a:t>
            </a:r>
          </a:p>
        </p:txBody>
      </p:sp>
      <p:sp>
        <p:nvSpPr>
          <p:cNvPr id="8" name="item-rule-0">
            <a:extLst xmlns:a="http://schemas.openxmlformats.org/drawingml/2006/main">
              <a:ext uri="{FF2B5EF4-FFF2-40B4-BE49-F238E27FC236}">
                <a16:creationId xmlns:a16="http://schemas.microsoft.com/office/drawing/2014/main" id="{A35CC15D-25AE-430E-92C2-F5E11B5D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10225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9" name="item-0">
            <a:extLst xmlns:a="http://schemas.openxmlformats.org/drawingml/2006/main">
              <a:ext uri="{FF2B5EF4-FFF2-40B4-BE49-F238E27FC236}">
                <a16:creationId xmlns:a16="http://schemas.microsoft.com/office/drawing/2014/main" id="{CFB1DF47-8CFD-4A51-8F75-F969419D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438775"/>
            <a:ext cx="128682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2850" b="0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Connect us with a pilot institution and specialist reviewers</a:t>
            </a:r>
          </a:p>
        </p:txBody>
      </p:sp>
      <p:sp>
        <p:nvSpPr>
          <p:cNvPr id="10" name="item-rule-1">
            <a:extLst xmlns:a="http://schemas.openxmlformats.org/drawingml/2006/main">
              <a:ext uri="{FF2B5EF4-FFF2-40B4-BE49-F238E27FC236}">
                <a16:creationId xmlns:a16="http://schemas.microsoft.com/office/drawing/2014/main" id="{9A53422D-03C6-4312-8A4E-0D286056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51510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11" name="item-1">
            <a:extLst xmlns:a="http://schemas.openxmlformats.org/drawingml/2006/main">
              <a:ext uri="{FF2B5EF4-FFF2-40B4-BE49-F238E27FC236}">
                <a16:creationId xmlns:a16="http://schemas.microsoft.com/office/drawing/2014/main" id="{891116E3-BF62-48DD-B5E7-39020B2A1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343650"/>
            <a:ext cx="128682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FAFAFA"/>
                </a:solidFill>
                <a:latin typeface="Nimbus Sans"/>
                <a:ea typeface="Nimbus Sans"/>
                <a:cs typeface="Nimbus Sans"/>
              </a:defRPr>
            </a:pPr>
            <a:r>
              <a:rPr sz="2850" b="0">
                <a:solidFill>
                  <a:srgbClr val="FAFAFA"/>
                </a:solidFill>
                <a:latin typeface="Nimbus Sans"/>
                <a:ea typeface="Nimbus Sans"/>
                <a:cs typeface="Nimbus Sans"/>
              </a:rPr>
              <a:t>Support business-model development and the intellectual-property pathway</a:t>
            </a:r>
          </a:p>
        </p:txBody>
      </p:sp>
      <p:sp>
        <p:nvSpPr>
          <p:cNvPr id="12" name="platform-link">
            <a:extLst xmlns:a="http://schemas.openxmlformats.org/drawingml/2006/main">
              <a:ext uri="{FF2B5EF4-FFF2-40B4-BE49-F238E27FC236}">
                <a16:creationId xmlns:a16="http://schemas.microsoft.com/office/drawing/2014/main" id="{F311AED0-69B2-416E-A053-B8B61B6D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477125"/>
            <a:ext cx="131540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BB4BD"/>
                </a:solidFill>
                <a:latin typeface="Nimbus Sans"/>
                <a:ea typeface="Nimbus Sans"/>
                <a:cs typeface="Nimbus Sans"/>
              </a:defRPr>
            </a:pPr>
            <a:r>
              <a:rPr sz="2700" b="1">
                <a:solidFill>
                  <a:srgbClr val="1BB4BD"/>
                </a:solidFill>
                <a:latin typeface="Nimbus Sans"/>
                <a:ea typeface="Nimbus Sans"/>
                <a:cs typeface="Nimbus Sans"/>
                <a:hlinkClick xmlns:r="http://schemas.openxmlformats.org/officeDocument/2006/relationships" r:id="R20d433f4b3834a0f"/>
              </a:rPr>
              <a:t>adeebnoor.github.io/Miyar</a:t>
            </a:r>
          </a:p>
        </p:txBody>
      </p:sp>
      <p:sp>
        <p:nvSpPr>
          <p:cNvPr id="13" name="slide-note">
            <a:extLst xmlns:a="http://schemas.openxmlformats.org/drawingml/2006/main">
              <a:ext uri="{FF2B5EF4-FFF2-40B4-BE49-F238E27FC236}">
                <a16:creationId xmlns:a16="http://schemas.microsoft.com/office/drawing/2014/main" id="{39983EC1-F95C-44BB-9F33-5F1805A9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8448675"/>
            <a:ext cx="12249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E1E7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D7E1E7"/>
                </a:solidFill>
                <a:latin typeface="Nimbus Sans"/>
                <a:ea typeface="Nimbus Sans"/>
                <a:cs typeface="Nimbus Sans"/>
              </a:rPr>
              <a:t>Explore the platform and start with the sample position</a:t>
            </a:r>
          </a:p>
        </p:txBody>
      </p:sp>
    </p:spTree>
    <p:extLst>
      <p:ext uri="{BB962C8B-B14F-4D97-AF65-F5344CB8AC3E}">
        <p14:creationId xmlns:p14="http://schemas.microsoft.com/office/powerpoint/2010/main" val="2443268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2026-09-13T19:14:29.5810000Z</dcterms:created>
  <dcterms:modified xsi:type="dcterms:W3CDTF">2026-09-13T19:14:29.5810000Z</dcterms:modified>
</coreProperties>
</file>