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53940a2a6747ac" /><Relationship Type="http://schemas.openxmlformats.org/officeDocument/2006/relationships/extended-properties" Target="/docProps/app.xml" Id="Ra70faef8aba34f0a" /><Relationship Type="http://schemas.openxmlformats.org/officeDocument/2006/relationships/officeDocument" Target="/ppt/presentation.xml" Id="Rf22988b872e74a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b729ef5ead481e"/>
  </p:sldMasterIdLst>
  <p:notesMasterIdLst>
    <p:notesMasterId xmlns:r="http://schemas.openxmlformats.org/officeDocument/2006/relationships" r:id="Rfd78d042f8344e19"/>
  </p:notesMasterIdLst>
  <p:sldIdLst>
    <p:sldId xmlns:r="http://schemas.openxmlformats.org/officeDocument/2006/relationships" id="256" r:id="R15d56671378d436b"/>
    <p:sldId xmlns:r="http://schemas.openxmlformats.org/officeDocument/2006/relationships" id="257" r:id="R269e846736084900"/>
    <p:sldId xmlns:r="http://schemas.openxmlformats.org/officeDocument/2006/relationships" id="258" r:id="R0738c073b43e40ec"/>
    <p:sldId xmlns:r="http://schemas.openxmlformats.org/officeDocument/2006/relationships" id="259" r:id="R665dc41388d8426f"/>
    <p:sldId xmlns:r="http://schemas.openxmlformats.org/officeDocument/2006/relationships" id="260" r:id="R1291baad112a4468"/>
    <p:sldId xmlns:r="http://schemas.openxmlformats.org/officeDocument/2006/relationships" id="261" r:id="Rba135f0b627a46d2"/>
    <p:sldId xmlns:r="http://schemas.openxmlformats.org/officeDocument/2006/relationships" id="262" r:id="R12a2d0b2308a4130"/>
    <p:sldId xmlns:r="http://schemas.openxmlformats.org/officeDocument/2006/relationships" id="263" r:id="R8b70ac8ca94541dc"/>
    <p:sldId xmlns:r="http://schemas.openxmlformats.org/officeDocument/2006/relationships" id="264" r:id="R90e20c63dd1243d9"/>
    <p:sldId xmlns:r="http://schemas.openxmlformats.org/officeDocument/2006/relationships" id="265" r:id="R4899ee39138a49ce"/>
    <p:sldId xmlns:r="http://schemas.openxmlformats.org/officeDocument/2006/relationships" id="266" r:id="Rd2a86f4bfcfd43ee"/>
    <p:sldId xmlns:r="http://schemas.openxmlformats.org/officeDocument/2006/relationships" id="267" r:id="R3bb82cb6e9214143"/>
    <p:sldId xmlns:r="http://schemas.openxmlformats.org/officeDocument/2006/relationships" id="268" r:id="R401c6fe2a69f43cc"/>
    <p:sldId xmlns:r="http://schemas.openxmlformats.org/officeDocument/2006/relationships" id="269" r:id="R2b4d53fc01fa46e7"/>
    <p:sldId xmlns:r="http://schemas.openxmlformats.org/officeDocument/2006/relationships" id="270" r:id="Rf41e8961fe974f3e"/>
    <p:sldId xmlns:r="http://schemas.openxmlformats.org/officeDocument/2006/relationships" id="271" r:id="Rf95be2c243f7425a"/>
    <p:sldId xmlns:r="http://schemas.openxmlformats.org/officeDocument/2006/relationships" id="272" r:id="R54a83c26f1094d86"/>
    <p:sldId xmlns:r="http://schemas.openxmlformats.org/officeDocument/2006/relationships" id="273" r:id="Rb11f9d520fe54e5b"/>
  </p:sldIdLst>
  <p:sldSz cx="15249525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c68928769441c0" /><Relationship Type="http://schemas.openxmlformats.org/officeDocument/2006/relationships/slideMaster" Target="/ppt/slideMasters/slideMaster1.xml" Id="Rddb729ef5ead481e" /><Relationship Type="http://schemas.openxmlformats.org/officeDocument/2006/relationships/notesMaster" Target="/ppt/notesMasters/notesMaster1.xml" Id="Rfd78d042f8344e19" /><Relationship Type="http://schemas.openxmlformats.org/officeDocument/2006/relationships/presProps" Target="/ppt/presProps.xml" Id="R9ab8ff38668a4d88" /><Relationship Type="http://schemas.openxmlformats.org/officeDocument/2006/relationships/tableStyles" Target="/ppt/tableStyles.xml" Id="R0e290283de1848b6" /><Relationship Type="http://schemas.openxmlformats.org/officeDocument/2006/relationships/slide" Target="/ppt/slides/slide1.xml" Id="R15d56671378d436b" /><Relationship Type="http://schemas.openxmlformats.org/officeDocument/2006/relationships/slide" Target="/ppt/slides/slide2.xml" Id="R269e846736084900" /><Relationship Type="http://schemas.openxmlformats.org/officeDocument/2006/relationships/slide" Target="/ppt/slides/slide3.xml" Id="R0738c073b43e40ec" /><Relationship Type="http://schemas.openxmlformats.org/officeDocument/2006/relationships/slide" Target="/ppt/slides/slide4.xml" Id="R665dc41388d8426f" /><Relationship Type="http://schemas.openxmlformats.org/officeDocument/2006/relationships/slide" Target="/ppt/slides/slide5.xml" Id="R1291baad112a4468" /><Relationship Type="http://schemas.openxmlformats.org/officeDocument/2006/relationships/slide" Target="/ppt/slides/slide6.xml" Id="Rba135f0b627a46d2" /><Relationship Type="http://schemas.openxmlformats.org/officeDocument/2006/relationships/slide" Target="/ppt/slides/slide7.xml" Id="R12a2d0b2308a4130" /><Relationship Type="http://schemas.openxmlformats.org/officeDocument/2006/relationships/slide" Target="/ppt/slides/slide8.xml" Id="R8b70ac8ca94541dc" /><Relationship Type="http://schemas.openxmlformats.org/officeDocument/2006/relationships/slide" Target="/ppt/slides/slide9.xml" Id="R90e20c63dd1243d9" /><Relationship Type="http://schemas.openxmlformats.org/officeDocument/2006/relationships/slide" Target="/ppt/slides/slide10.xml" Id="R4899ee39138a49ce" /><Relationship Type="http://schemas.openxmlformats.org/officeDocument/2006/relationships/slide" Target="/ppt/slides/slide11.xml" Id="Rd2a86f4bfcfd43ee" /><Relationship Type="http://schemas.openxmlformats.org/officeDocument/2006/relationships/slide" Target="/ppt/slides/slide12.xml" Id="R3bb82cb6e9214143" /><Relationship Type="http://schemas.openxmlformats.org/officeDocument/2006/relationships/slide" Target="/ppt/slides/slide13.xml" Id="R401c6fe2a69f43cc" /><Relationship Type="http://schemas.openxmlformats.org/officeDocument/2006/relationships/slide" Target="/ppt/slides/slide14.xml" Id="R2b4d53fc01fa46e7" /><Relationship Type="http://schemas.openxmlformats.org/officeDocument/2006/relationships/slide" Target="/ppt/slides/slide15.xml" Id="Rf41e8961fe974f3e" /><Relationship Type="http://schemas.openxmlformats.org/officeDocument/2006/relationships/slide" Target="/ppt/slides/slide16.xml" Id="Rf95be2c243f7425a" /><Relationship Type="http://schemas.openxmlformats.org/officeDocument/2006/relationships/slide" Target="/ppt/slides/slide17.xml" Id="R54a83c26f1094d86" /><Relationship Type="http://schemas.openxmlformats.org/officeDocument/2006/relationships/slide" Target="/ppt/slides/slide18.xml" Id="Rb11f9d520fe54e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56b01e61c344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fc98bb15bc4152" /><Relationship Type="http://schemas.openxmlformats.org/officeDocument/2006/relationships/notesMaster" Target="/ppt/notesMasters/notesMaster1.xml" Id="Raeea2820afab45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b343f25b9a4680" /><Relationship Type="http://schemas.openxmlformats.org/officeDocument/2006/relationships/notesMaster" Target="/ppt/notesMasters/notesMaster1.xml" Id="R0fd1dec2312143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c1c4146caf48b6" /><Relationship Type="http://schemas.openxmlformats.org/officeDocument/2006/relationships/notesMaster" Target="/ppt/notesMasters/notesMaster1.xml" Id="R93e4339db15349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b492ebdfd04b43" /><Relationship Type="http://schemas.openxmlformats.org/officeDocument/2006/relationships/notesMaster" Target="/ppt/notesMasters/notesMaster1.xml" Id="Rbc016fdde7104c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96a5c19c134f16" /><Relationship Type="http://schemas.openxmlformats.org/officeDocument/2006/relationships/notesMaster" Target="/ppt/notesMasters/notesMaster1.xml" Id="Rddcf51fad2d140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e7b486e6304be9" /><Relationship Type="http://schemas.openxmlformats.org/officeDocument/2006/relationships/notesMaster" Target="/ppt/notesMasters/notesMaster1.xml" Id="R1aa7ec13384d4a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ed0bc6e3bb46e6" /><Relationship Type="http://schemas.openxmlformats.org/officeDocument/2006/relationships/notesMaster" Target="/ppt/notesMasters/notesMaster1.xml" Id="R486935835f7647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6452dd99f44729" /><Relationship Type="http://schemas.openxmlformats.org/officeDocument/2006/relationships/notesMaster" Target="/ppt/notesMasters/notesMaster1.xml" Id="Rf8468bc73aba45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98bc4687e74dfc" /><Relationship Type="http://schemas.openxmlformats.org/officeDocument/2006/relationships/notesMaster" Target="/ppt/notesMasters/notesMaster1.xml" Id="R37275055816c47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e24baec2aa4661" /><Relationship Type="http://schemas.openxmlformats.org/officeDocument/2006/relationships/notesMaster" Target="/ppt/notesMasters/notesMaster1.xml" Id="R0c927d443647483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6dc1f7513f4528" /><Relationship Type="http://schemas.openxmlformats.org/officeDocument/2006/relationships/notesMaster" Target="/ppt/notesMasters/notesMaster1.xml" Id="R78efc7d0338140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c3db08519a4679" /><Relationship Type="http://schemas.openxmlformats.org/officeDocument/2006/relationships/notesMaster" Target="/ppt/notesMasters/notesMaster1.xml" Id="R76df9720a4d047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a22db89d564df8" /><Relationship Type="http://schemas.openxmlformats.org/officeDocument/2006/relationships/notesMaster" Target="/ppt/notesMasters/notesMaster1.xml" Id="Rd98edea720294b6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34048ff9cb4df5" /><Relationship Type="http://schemas.openxmlformats.org/officeDocument/2006/relationships/notesMaster" Target="/ppt/notesMasters/notesMaster1.xml" Id="R38241592178f47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91213d5c244074" /><Relationship Type="http://schemas.openxmlformats.org/officeDocument/2006/relationships/notesMaster" Target="/ppt/notesMasters/notesMaster1.xml" Id="R9473600b7bd047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7a3762d1484a93" /><Relationship Type="http://schemas.openxmlformats.org/officeDocument/2006/relationships/notesMaster" Target="/ppt/notesMasters/notesMaster1.xml" Id="R166a75aac6fb4a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2ccae55f21423b" /><Relationship Type="http://schemas.openxmlformats.org/officeDocument/2006/relationships/notesMaster" Target="/ppt/notesMasters/notesMaster1.xml" Id="R6872d03507b0418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00e8ab49d14b17" /><Relationship Type="http://schemas.openxmlformats.org/officeDocument/2006/relationships/notesMaster" Target="/ppt/notesMasters/notesMaster1.xml" Id="R3e7b3dd711b346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معيار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عرض لمركز الابتكار والتجربة المؤسسية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Architectural photo generated by OpenAI image generation for this deck. Illustrative setting; not a customer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المشكلة: قرار واحد في ملفات متفرقة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Problem framing for the proposed institutional pilot. Not a quantified market finding.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تكلفة القرار تبدأ قبل التوظيف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الحل: سجل مترابط لكل منصب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Architectural photo generated by OpenAI image generation for this deck. Illustrative setting; not a customer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كيف يعمل معيار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المنتج: بطاقة منصب قابلة للمراجعة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Supplied Miyar-Decision-214401-en(1).json. Current corpus confirms occupation 214401 and education specialization 071501. The importer preserves provenance and restores the unique leading-zero education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مثال مرجعي. استيراد الرمز وحده لا يمنح اعتماداً للمنصب.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مسؤوليات واضحة ونتائج قابلة للقياس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أهداف ومسؤوليات افتراضية للتوضيح، وليست نتائج حققتها المنصة.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الاعتماد: أربع مراجعات متخصصة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صلاحيات محددة وفصل بين طالب المنصب ومعتمده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مرجعية سعودية داخل رحلة القرار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https://adeebnoor.github.io/Miyar/classifications/ssco-2019.json and https://adeebnoor.github.io/Miyar/classifications/education-2020.json. Corpus counts verified against repository data. These are reference coverage counts, not compliance rates.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مع تنبيهات للفئات المهنية وروابط الجهات الرسمية للمراجعة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ما يميّز تركيز معيار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العملاء المستهدفون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شرائح مستهدفة للتجربة والتوسع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Architectural photo generated by OpenAI image generation for this deck. Illustrative setting; not a customer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نموذج تجاري مقترح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التسعير والاستعداد للدفع يُختبران مع الشريك التجريبي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خطة الدخول إلى السوق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خطة مقترحة، وليست عقوداً أو شراكات قائمة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التقدم الحالي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4.5 deployed service and September 2026 enterprise entrance. Current functionality verified in repository tests and deployed asset checks. No customer traction or revenue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الخطوة التالية: قياس القيمة مع مؤسسة تجريبية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قدرات اليوم وخطة التوسع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المنصة لا تحسب منهجية Korn Ferry الأصلية ولا تضمن الامتثال تلقائياً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تجربة مؤسسية قابلة للقياس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نطاق مقترح يُعتمد مع الجهة المشاركة؛ الأرقام ليست نتائج محققة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فريق معيار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Team names are credited on the Miyar website. Adeeb Noor’s KAU affiliation was supplied by the user. No unverified founder, executive or employment title is assigned to Ahmad Raza Khan.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نرحب بمشاركة مختصي التطوير التنظيمي والتقييم الوظيفي في التجربة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المطلوب من مركز الابتكار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Miyar product narrative and proposed institutional pilot. Product: https://adeebnoor.github.io/Miyar/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استعرض المنصة وابدأ بالنموذج التجريبي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Architectural photo generated by OpenAI image generation for this deck. Illustrative setting; not a customer location.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Visual reference: supplied Uber_Pitch_Deck_Template.pdf. Original Miyar copy; no Uber logos, market figures or customer claims reused.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05151f6d141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5bf34b4f9e4297" /><Relationship Type="http://schemas.openxmlformats.org/officeDocument/2006/relationships/slideLayout" Target="/ppt/slideLayouts/slideLayout1.xml" Id="Rd4ea828a23b143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ea828a23b143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4ba8c100948b2" /><Relationship Type="http://schemas.openxmlformats.org/officeDocument/2006/relationships/image" Target="/ppt/media/image.jpeg" Id="R25d78c4feff34042" /><Relationship Type="http://schemas.openxmlformats.org/officeDocument/2006/relationships/notesSlide" Target="/ppt/notesSlides/notesSlide1.xml" Id="Rb67c9a7b255040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73ee45baf42bd" /><Relationship Type="http://schemas.openxmlformats.org/officeDocument/2006/relationships/notesSlide" Target="/ppt/notesSlides/notesSlide2.xml" Id="Rf0f1b83a48d841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c03da74f34fc7" /><Relationship Type="http://schemas.openxmlformats.org/officeDocument/2006/relationships/notesSlide" Target="/ppt/notesSlides/notesSlide3.xml" Id="R5df4d481d8864a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7ed14e7eb4c3c" /><Relationship Type="http://schemas.openxmlformats.org/officeDocument/2006/relationships/image" Target="/ppt/media/image2.jpeg" Id="R165d05aa07e54690" /><Relationship Type="http://schemas.openxmlformats.org/officeDocument/2006/relationships/notesSlide" Target="/ppt/notesSlides/notesSlide4.xml" Id="Re1fed109609e42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b412b37544273" /><Relationship Type="http://schemas.openxmlformats.org/officeDocument/2006/relationships/notesSlide" Target="/ppt/notesSlides/notesSlide5.xml" Id="Re69c82baaf854a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b3c653a9f4480" /><Relationship Type="http://schemas.openxmlformats.org/officeDocument/2006/relationships/notesSlide" Target="/ppt/notesSlides/notesSlide6.xml" Id="Raf3fb8ecd8c642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b7b490fb645bf" /><Relationship Type="http://schemas.openxmlformats.org/officeDocument/2006/relationships/notesSlide" Target="/ppt/notesSlides/notesSlide7.xml" Id="Rd50ea5b5df1b44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fb3110d93486d" /><Relationship Type="http://schemas.openxmlformats.org/officeDocument/2006/relationships/notesSlide" Target="/ppt/notesSlides/notesSlide8.xml" Id="R10bb94ac2df346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dbcc4a10d4865" /><Relationship Type="http://schemas.openxmlformats.org/officeDocument/2006/relationships/notesSlide" Target="/ppt/notesSlides/notesSlide9.xml" Id="R6073514a783349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8ca7356744992" /><Relationship Type="http://schemas.openxmlformats.org/officeDocument/2006/relationships/notesSlide" Target="/ppt/notesSlides/notesSlide10.xml" Id="R549d1bc4350645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7d0cd14e84090" /><Relationship Type="http://schemas.openxmlformats.org/officeDocument/2006/relationships/image" Target="/ppt/media/image3.jpeg" Id="R7a4b444b3af34d48" /><Relationship Type="http://schemas.openxmlformats.org/officeDocument/2006/relationships/notesSlide" Target="/ppt/notesSlides/notesSlide11.xml" Id="R7dd8ce8723b54b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651d7c9064c6b" /><Relationship Type="http://schemas.openxmlformats.org/officeDocument/2006/relationships/notesSlide" Target="/ppt/notesSlides/notesSlide12.xml" Id="R50114bd2bad848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d69cb5d204eb8" /><Relationship Type="http://schemas.openxmlformats.org/officeDocument/2006/relationships/notesSlide" Target="/ppt/notesSlides/notesSlide13.xml" Id="Re60ba8e4609e49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cd976caa74702" /><Relationship Type="http://schemas.openxmlformats.org/officeDocument/2006/relationships/notesSlide" Target="/ppt/notesSlides/notesSlide14.xml" Id="R847674801e7245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f0aa45c0340c7" /><Relationship Type="http://schemas.openxmlformats.org/officeDocument/2006/relationships/notesSlide" Target="/ppt/notesSlides/notesSlide15.xml" Id="Rd457c018b95a4e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4d55e03ac4a88" /><Relationship Type="http://schemas.openxmlformats.org/officeDocument/2006/relationships/notesSlide" Target="/ppt/notesSlides/notesSlide16.xml" Id="R46a7eaadd4b54f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b5edf92654d7e" /><Relationship Type="http://schemas.openxmlformats.org/officeDocument/2006/relationships/notesSlide" Target="/ppt/notesSlides/notesSlide17.xml" Id="R062853b6debd47c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21afa19114622" /><Relationship Type="http://schemas.openxmlformats.org/officeDocument/2006/relationships/image" Target="/ppt/media/image4.jpeg" Id="R9c56b91851154df4" /><Relationship Type="http://schemas.openxmlformats.org/officeDocument/2006/relationships/hyperlink" Target="https://adeebnoor.github.io/Miyar/" TargetMode="External" Id="Rca6ce98cb8f64a23" /><Relationship Type="http://schemas.openxmlformats.org/officeDocument/2006/relationships/notesSlide" Target="/ppt/notesSlides/notesSlide18.xml" Id="R9498ed743a5b4a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78c4feff34042"/>
          <a:srcRect xmlns:a="http://schemas.openxmlformats.org/drawingml/2006/main" l="0" t="69" r="0" b="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9525" cy="9525000"/>
          </a:xfrm>
          <a:prstGeom xmlns:a="http://schemas.openxmlformats.org/drawingml/2006/main" prst="rect">
            <a:avLst/>
          </a:prstGeom>
        </p:spPr>
      </p:pic>
      <p:sp>
        <p:nvSpPr>
          <p:cNvPr id="2" name="photo-legibility-overlay">
            <a:extLst xmlns:a="http://schemas.openxmlformats.org/drawingml/2006/main">
              <a:ext uri="{FF2B5EF4-FFF2-40B4-BE49-F238E27FC236}">
                <a16:creationId xmlns:a16="http://schemas.microsoft.com/office/drawing/2014/main" id="{5D9822AA-9141-4B0F-9C4F-AED9059D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9525" cy="952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>
              <a:alpha val="5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F493AFFD-4171-4238-AEF5-B4029641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D9D28898-DCF2-4BD6-B3A0-D903107C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5" name="cover-top-rule">
            <a:extLst xmlns:a="http://schemas.openxmlformats.org/drawingml/2006/main">
              <a:ext uri="{FF2B5EF4-FFF2-40B4-BE49-F238E27FC236}">
                <a16:creationId xmlns:a16="http://schemas.microsoft.com/office/drawing/2014/main" id="{3038D267-AAE4-4B8D-82D7-9C1E6CC0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31540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B91BED4-0DCB-46EF-98CE-F8474286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131540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90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900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معيار</a:t>
            </a:r>
          </a:p>
        </p:txBody>
      </p:sp>
      <p:sp>
        <p:nvSpPr>
          <p:cNvPr id="7" name="cover-bottom-rule">
            <a:extLst xmlns:a="http://schemas.openxmlformats.org/drawingml/2006/main">
              <a:ext uri="{FF2B5EF4-FFF2-40B4-BE49-F238E27FC236}">
                <a16:creationId xmlns:a16="http://schemas.microsoft.com/office/drawing/2014/main" id="{ABDA5DB1-3082-45D9-9550-690D141C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81525"/>
            <a:ext cx="131540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2E16294-E187-431A-AB8B-CAD52EAC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9675"/>
            <a:ext cx="131540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42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حوكمة المناصب قبل التوظيف</a:t>
            </a:r>
          </a:p>
        </p:txBody>
      </p:sp>
      <p:sp>
        <p:nvSpPr>
          <p:cNvPr id="9" name="cover-body">
            <a:extLst xmlns:a="http://schemas.openxmlformats.org/drawingml/2006/main">
              <a:ext uri="{FF2B5EF4-FFF2-40B4-BE49-F238E27FC236}">
                <a16:creationId xmlns:a16="http://schemas.microsoft.com/office/drawing/2014/main" id="{5FAAF192-7FB9-4F66-B520-1E95D5D9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122015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77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من احتياج العمل إلى وصف وظيفي وتقييم وقرار اعتماد موثّق</a:t>
            </a:r>
          </a:p>
        </p:txBody>
      </p:sp>
      <p:sp>
        <p:nvSpPr>
          <p:cNvPr id="10" name="slide-note">
            <a:extLst xmlns:a="http://schemas.openxmlformats.org/drawingml/2006/main">
              <a:ext uri="{FF2B5EF4-FFF2-40B4-BE49-F238E27FC236}">
                <a16:creationId xmlns:a16="http://schemas.microsoft.com/office/drawing/2014/main" id="{35E4939C-5F69-4743-B1C5-5D2428E1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lang="ar-SA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عرض لمركز الابتكار والتجربة المؤسسية</a:t>
            </a:r>
          </a:p>
        </p:txBody>
      </p:sp>
    </p:spTree>
    <p:extLst>
      <p:ext uri="{BB962C8B-B14F-4D97-AF65-F5344CB8AC3E}">
        <p14:creationId xmlns:p14="http://schemas.microsoft.com/office/powerpoint/2010/main" val="8811296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brand">
            <a:extLst xmlns:a="http://schemas.openxmlformats.org/drawingml/2006/main">
              <a:ext uri="{FF2B5EF4-FFF2-40B4-BE49-F238E27FC236}">
                <a16:creationId xmlns:a16="http://schemas.microsoft.com/office/drawing/2014/main" id="{EFBAE360-CD0A-4D3B-B270-7A07F147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ECC56CF5-A793-40D2-BA23-08DA3071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C7580D-E1F4-4990-9041-4E655257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المشكلة: قرار واحد في ملفات متفرقة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440E67-CF47-4711-9736-5228CA29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column-title-0">
            <a:extLst xmlns:a="http://schemas.openxmlformats.org/drawingml/2006/main">
              <a:ext uri="{FF2B5EF4-FFF2-40B4-BE49-F238E27FC236}">
                <a16:creationId xmlns:a16="http://schemas.microsoft.com/office/drawing/2014/main" id="{03DD092F-8D7A-41EA-9930-FD16CC42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62350"/>
            <a:ext cx="605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85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lang="ar-SA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معلومات متفرقة</a:t>
            </a:r>
          </a:p>
        </p:txBody>
      </p:sp>
      <p:sp>
        <p:nvSpPr>
          <p:cNvPr id="6" name="item-rule-0">
            <a:extLst xmlns:a="http://schemas.openxmlformats.org/drawingml/2006/main">
              <a:ext uri="{FF2B5EF4-FFF2-40B4-BE49-F238E27FC236}">
                <a16:creationId xmlns:a16="http://schemas.microsoft.com/office/drawing/2014/main" id="{D0065BF7-1515-4130-B7B1-AA9FD4B4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18F68818-A441-42B5-9D7B-70B8043C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7677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مبرر الاحتياج في بريد إلكتروني</a:t>
            </a:r>
          </a:p>
        </p:txBody>
      </p:sp>
      <p:sp>
        <p:nvSpPr>
          <p:cNvPr id="8" name="item-rule-1">
            <a:extLst xmlns:a="http://schemas.openxmlformats.org/drawingml/2006/main">
              <a:ext uri="{FF2B5EF4-FFF2-40B4-BE49-F238E27FC236}">
                <a16:creationId xmlns:a16="http://schemas.microsoft.com/office/drawing/2014/main" id="{9A119CB4-8CB9-4064-9CE2-6D3BAAB6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59055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item-1">
            <a:extLst xmlns:a="http://schemas.openxmlformats.org/drawingml/2006/main">
              <a:ext uri="{FF2B5EF4-FFF2-40B4-BE49-F238E27FC236}">
                <a16:creationId xmlns:a16="http://schemas.microsoft.com/office/drawing/2014/main" id="{FF0E1587-33DF-4793-8C3D-F8DAD6D1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734050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الوصف الوظيفي في مستند مستقل</a:t>
            </a:r>
          </a:p>
        </p:txBody>
      </p:sp>
      <p:sp>
        <p:nvSpPr>
          <p:cNvPr id="10" name="item-rule-2">
            <a:extLst xmlns:a="http://schemas.openxmlformats.org/drawingml/2006/main">
              <a:ext uri="{FF2B5EF4-FFF2-40B4-BE49-F238E27FC236}">
                <a16:creationId xmlns:a16="http://schemas.microsoft.com/office/drawing/2014/main" id="{A53D38B7-AE62-49FF-8B05-3863AF2D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9627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1" name="item-2">
            <a:extLst xmlns:a="http://schemas.openxmlformats.org/drawingml/2006/main">
              <a:ext uri="{FF2B5EF4-FFF2-40B4-BE49-F238E27FC236}">
                <a16:creationId xmlns:a16="http://schemas.microsoft.com/office/drawing/2014/main" id="{B3510DEA-ACD8-4084-932C-843DB7B6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79132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التقييم والمراجعات في ملفات أخرى</a:t>
            </a:r>
          </a:p>
        </p:txBody>
      </p:sp>
      <p:sp>
        <p:nvSpPr>
          <p:cNvPr id="12" name="column-title-1">
            <a:extLst xmlns:a="http://schemas.openxmlformats.org/drawingml/2006/main">
              <a:ext uri="{FF2B5EF4-FFF2-40B4-BE49-F238E27FC236}">
                <a16:creationId xmlns:a16="http://schemas.microsoft.com/office/drawing/2014/main" id="{CB65BCF9-2F6B-4CB4-8C81-C1686F64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605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85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lang="ar-SA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قرار يصعب تتبّعه</a:t>
            </a:r>
          </a:p>
        </p:txBody>
      </p:sp>
      <p:sp>
        <p:nvSpPr>
          <p:cNvPr id="13" name="item-rule-0">
            <a:extLst xmlns:a="http://schemas.openxmlformats.org/drawingml/2006/main">
              <a:ext uri="{FF2B5EF4-FFF2-40B4-BE49-F238E27FC236}">
                <a16:creationId xmlns:a16="http://schemas.microsoft.com/office/drawing/2014/main" id="{C28EE8D8-0279-437A-B93C-CB3FBB80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4" name="item-0">
            <a:extLst xmlns:a="http://schemas.openxmlformats.org/drawingml/2006/main">
              <a:ext uri="{FF2B5EF4-FFF2-40B4-BE49-F238E27FC236}">
                <a16:creationId xmlns:a16="http://schemas.microsoft.com/office/drawing/2014/main" id="{0EFD2CBB-A8B7-4494-A9C3-03BF1352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7677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ما الذي يبرر إضافة المنصب؟</a:t>
            </a:r>
          </a:p>
        </p:txBody>
      </p:sp>
      <p:sp>
        <p:nvSpPr>
          <p:cNvPr id="15" name="item-rule-1">
            <a:extLst xmlns:a="http://schemas.openxmlformats.org/drawingml/2006/main">
              <a:ext uri="{FF2B5EF4-FFF2-40B4-BE49-F238E27FC236}">
                <a16:creationId xmlns:a16="http://schemas.microsoft.com/office/drawing/2014/main" id="{60DDAE74-19C8-4219-9F90-D1DCB044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9055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6" name="item-1">
            <a:extLst xmlns:a="http://schemas.openxmlformats.org/drawingml/2006/main">
              <a:ext uri="{FF2B5EF4-FFF2-40B4-BE49-F238E27FC236}">
                <a16:creationId xmlns:a16="http://schemas.microsoft.com/office/drawing/2014/main" id="{DB7A1B13-F641-4881-A5DF-00A6BFDE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أي إصدار وافق عليه المراجع؟</a:t>
            </a:r>
          </a:p>
        </p:txBody>
      </p:sp>
      <p:sp>
        <p:nvSpPr>
          <p:cNvPr id="17" name="item-rule-2">
            <a:extLst xmlns:a="http://schemas.openxmlformats.org/drawingml/2006/main">
              <a:ext uri="{FF2B5EF4-FFF2-40B4-BE49-F238E27FC236}">
                <a16:creationId xmlns:a16="http://schemas.microsoft.com/office/drawing/2014/main" id="{554EA985-BC36-44D6-A9C7-26467922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69627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8" name="item-2">
            <a:extLst xmlns:a="http://schemas.openxmlformats.org/drawingml/2006/main">
              <a:ext uri="{FF2B5EF4-FFF2-40B4-BE49-F238E27FC236}">
                <a16:creationId xmlns:a16="http://schemas.microsoft.com/office/drawing/2014/main" id="{890CD833-7944-4DA9-A9BA-0D161FEE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9132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كيف ترتبط الدرجة بمسؤوليات الدور؟</a:t>
            </a:r>
          </a:p>
        </p:txBody>
      </p:sp>
    </p:spTree>
    <p:extLst>
      <p:ext uri="{BB962C8B-B14F-4D97-AF65-F5344CB8AC3E}">
        <p14:creationId xmlns:p14="http://schemas.microsoft.com/office/powerpoint/2010/main" val="3329036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">
            <a:extLst xmlns:a="http://schemas.openxmlformats.org/drawingml/2006/main">
              <a:ext uri="{FF2B5EF4-FFF2-40B4-BE49-F238E27FC236}">
                <a16:creationId xmlns:a16="http://schemas.microsoft.com/office/drawing/2014/main" id="{202A0A7A-BEC4-4EBA-85F8-3091F01C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AE1932C8-B692-4722-B9D3-C871A044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9E1487-F194-4DBD-A659-C35884EA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تكلفة القرار تبدأ قبل التوظيف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F5A12DE-13C3-4F84-B624-F8D78481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4B726B2A-DC93-49BD-A3C4-DA146F6D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315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45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كل منصب يحتاج مبرراً قابلاً للمراجعة</a:t>
            </a:r>
          </a:p>
        </p:txBody>
      </p:sp>
      <p:sp>
        <p:nvSpPr>
          <p:cNvPr id="6" name="item-rule-0">
            <a:extLst xmlns:a="http://schemas.openxmlformats.org/drawingml/2006/main">
              <a:ext uri="{FF2B5EF4-FFF2-40B4-BE49-F238E27FC236}">
                <a16:creationId xmlns:a16="http://schemas.microsoft.com/office/drawing/2014/main" id="{F1ECB2F4-0C1F-433E-9AE2-E72D91D1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5610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3550ED08-39C9-40D8-BA4A-F068A35B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387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625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احتياج حقيقي وبدائل جرى النظر فيها</a:t>
            </a:r>
          </a:p>
        </p:txBody>
      </p:sp>
      <p:sp>
        <p:nvSpPr>
          <p:cNvPr id="8" name="item-rule-1">
            <a:extLst xmlns:a="http://schemas.openxmlformats.org/drawingml/2006/main">
              <a:ext uri="{FF2B5EF4-FFF2-40B4-BE49-F238E27FC236}">
                <a16:creationId xmlns:a16="http://schemas.microsoft.com/office/drawing/2014/main" id="{97C06DEB-BA18-4984-AA5D-FA03E681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5627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item-1">
            <a:extLst xmlns:a="http://schemas.openxmlformats.org/drawingml/2006/main">
              <a:ext uri="{FF2B5EF4-FFF2-40B4-BE49-F238E27FC236}">
                <a16:creationId xmlns:a16="http://schemas.microsoft.com/office/drawing/2014/main" id="{56DC75B6-653B-40FE-9123-96239736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912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625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مسؤوليات وحدود صلاحية محددة</a:t>
            </a:r>
          </a:p>
        </p:txBody>
      </p:sp>
      <p:sp>
        <p:nvSpPr>
          <p:cNvPr id="10" name="item-rule-2">
            <a:extLst xmlns:a="http://schemas.openxmlformats.org/drawingml/2006/main">
              <a:ext uri="{FF2B5EF4-FFF2-40B4-BE49-F238E27FC236}">
                <a16:creationId xmlns:a16="http://schemas.microsoft.com/office/drawing/2014/main" id="{D081BE6F-DE62-47FA-A46C-F2BA91DD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7515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1" name="item-2">
            <a:extLst xmlns:a="http://schemas.openxmlformats.org/drawingml/2006/main">
              <a:ext uri="{FF2B5EF4-FFF2-40B4-BE49-F238E27FC236}">
                <a16:creationId xmlns:a16="http://schemas.microsoft.com/office/drawing/2014/main" id="{6981687A-4C4F-4199-8436-686A19C8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3437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625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نتائج يمكن قياسها بعد شغل المنصب</a:t>
            </a:r>
          </a:p>
        </p:txBody>
      </p:sp>
    </p:spTree>
    <p:extLst>
      <p:ext uri="{BB962C8B-B14F-4D97-AF65-F5344CB8AC3E}">
        <p14:creationId xmlns:p14="http://schemas.microsoft.com/office/powerpoint/2010/main" val="444899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d05aa07e54690"/>
          <a:srcRect xmlns:a="http://schemas.openxmlformats.org/drawingml/2006/main" l="0" t="69" r="0" b="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9525" cy="9525000"/>
          </a:xfrm>
          <a:prstGeom xmlns:a="http://schemas.openxmlformats.org/drawingml/2006/main" prst="rect">
            <a:avLst/>
          </a:prstGeom>
        </p:spPr>
      </p:pic>
      <p:sp>
        <p:nvSpPr>
          <p:cNvPr id="2" name="photo-legibility-overlay">
            <a:extLst xmlns:a="http://schemas.openxmlformats.org/drawingml/2006/main">
              <a:ext uri="{FF2B5EF4-FFF2-40B4-BE49-F238E27FC236}">
                <a16:creationId xmlns:a16="http://schemas.microsoft.com/office/drawing/2014/main" id="{A7D8496E-A310-4F0B-848D-28319715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9525" cy="952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>
              <a:alpha val="5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DF13F11A-0A8B-4F29-9EB5-448E2A9B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D8D70233-270E-4395-BCE5-6C5394F2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3806C3-7F45-4F33-9508-9E1B90D2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الحل: سجل مترابط لكل منصب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29C2A84E-C0C8-4371-BB5A-FFEDA3A7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7" name="statement">
            <a:extLst xmlns:a="http://schemas.openxmlformats.org/drawingml/2006/main">
              <a:ext uri="{FF2B5EF4-FFF2-40B4-BE49-F238E27FC236}">
                <a16:creationId xmlns:a16="http://schemas.microsoft.com/office/drawing/2014/main" id="{0764D633-AED9-40A0-A3DB-91A83F98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315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45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معيار يجمع أدلة القرار في رحلة عمل واحدة</a:t>
            </a:r>
          </a:p>
        </p:txBody>
      </p:sp>
      <p:sp>
        <p:nvSpPr>
          <p:cNvPr id="8" name="item-rule-0">
            <a:extLst xmlns:a="http://schemas.openxmlformats.org/drawingml/2006/main">
              <a:ext uri="{FF2B5EF4-FFF2-40B4-BE49-F238E27FC236}">
                <a16:creationId xmlns:a16="http://schemas.microsoft.com/office/drawing/2014/main" id="{36332BEF-4248-4FB2-B298-37C84EB3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5610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item-0">
            <a:extLst xmlns:a="http://schemas.openxmlformats.org/drawingml/2006/main">
              <a:ext uri="{FF2B5EF4-FFF2-40B4-BE49-F238E27FC236}">
                <a16:creationId xmlns:a16="http://schemas.microsoft.com/office/drawing/2014/main" id="{A9577C78-AF14-4A8C-B599-6967359F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387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6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احتياج العمل والمرجع المهني</a:t>
            </a:r>
          </a:p>
        </p:txBody>
      </p:sp>
      <p:sp>
        <p:nvSpPr>
          <p:cNvPr id="10" name="item-rule-1">
            <a:extLst xmlns:a="http://schemas.openxmlformats.org/drawingml/2006/main">
              <a:ext uri="{FF2B5EF4-FFF2-40B4-BE49-F238E27FC236}">
                <a16:creationId xmlns:a16="http://schemas.microsoft.com/office/drawing/2014/main" id="{C8A949A7-8C16-4E20-A34F-AB650416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5627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E32B7DA8-31B7-49B7-B646-A35263FC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912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6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الوصف الوظيفي ونتيجة التقييم</a:t>
            </a:r>
          </a:p>
        </p:txBody>
      </p:sp>
      <p:sp>
        <p:nvSpPr>
          <p:cNvPr id="12" name="item-rule-2">
            <a:extLst xmlns:a="http://schemas.openxmlformats.org/drawingml/2006/main">
              <a:ext uri="{FF2B5EF4-FFF2-40B4-BE49-F238E27FC236}">
                <a16:creationId xmlns:a16="http://schemas.microsoft.com/office/drawing/2014/main" id="{4494509C-AED9-4596-8E7B-A0A306BF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7515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3" name="item-2">
            <a:extLst xmlns:a="http://schemas.openxmlformats.org/drawingml/2006/main">
              <a:ext uri="{FF2B5EF4-FFF2-40B4-BE49-F238E27FC236}">
                <a16:creationId xmlns:a16="http://schemas.microsoft.com/office/drawing/2014/main" id="{3688138F-A229-4DCC-AD97-9180D6C5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3437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6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مراجعات مؤسسية مرتبطة بالإصدار</a:t>
            </a:r>
          </a:p>
        </p:txBody>
      </p:sp>
    </p:spTree>
    <p:extLst>
      <p:ext uri="{BB962C8B-B14F-4D97-AF65-F5344CB8AC3E}">
        <p14:creationId xmlns:p14="http://schemas.microsoft.com/office/powerpoint/2010/main" val="1915377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BB4B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rand">
            <a:extLst xmlns:a="http://schemas.openxmlformats.org/drawingml/2006/main">
              <a:ext uri="{FF2B5EF4-FFF2-40B4-BE49-F238E27FC236}">
                <a16:creationId xmlns:a16="http://schemas.microsoft.com/office/drawing/2014/main" id="{506A7E7F-3422-47AC-87F6-EB4AF9C6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510F2029-13B9-4707-A0E1-3ABCBE84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F8B2F1-5CD6-419B-A45B-F3FF61D9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كيف يعمل معيار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619BF4F-1CAB-4319-B08D-BFC3C94A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/>
          </a:solidFill>
          <a:ln xmlns:a="http://schemas.openxmlformats.org/drawingml/2006/main" w="0">
            <a:noFill/>
          </a:ln>
        </p:spPr>
      </p:sp>
      <p:sp>
        <p:nvSpPr>
          <p:cNvPr id="5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8E0D65B3-5C0B-4EF7-B9D1-415FD152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35814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EEF0B8D7-2694-4026-8157-BEADEE5D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099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7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طلب الاحتياج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09B82685-9740-435B-8C31-9F5E5B63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815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250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المبرر والبدائل ونطاق العمل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EF3D76C2-7126-47DD-ABED-999EC286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814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0AE42853-489D-4989-9BF5-A905D972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99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7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تصميم المنصب</a:t>
            </a:r>
          </a:p>
        </p:txBody>
      </p:sp>
      <p:sp>
        <p:nvSpPr>
          <p:cNvPr id="1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6D5B1A76-2A06-4A0A-9F5B-61E14A5A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815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250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المرجع والوصف والجدارات</a:t>
            </a:r>
          </a:p>
        </p:txBody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E9711337-C882-4957-80FB-1BB7A26C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58102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11C0A2D2-1EC2-44B5-BEFF-176AD382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388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7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التقييم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FE92E620-668A-4A98-B015-B093E0C1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8103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250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النقاط والدرجة وأدلة التقييم</a:t>
            </a:r>
          </a:p>
        </p:txBody>
      </p:sp>
      <p:sp>
        <p:nvSpPr>
          <p:cNvPr id="1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F466C7A0-E038-42EF-A37B-8D671638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102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E7593883-3047-44D0-9089-09991413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388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7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الاعتماد</a:t>
            </a:r>
          </a:p>
        </p:txBody>
      </p:sp>
      <p:sp>
        <p:nvSpPr>
          <p:cNvPr id="1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7DF62AC8-0030-4485-BF45-A11F32F8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103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250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أربع مراحل وحزمة موثّقة</a:t>
            </a:r>
          </a:p>
        </p:txBody>
      </p:sp>
    </p:spTree>
    <p:extLst>
      <p:ext uri="{BB962C8B-B14F-4D97-AF65-F5344CB8AC3E}">
        <p14:creationId xmlns:p14="http://schemas.microsoft.com/office/powerpoint/2010/main" val="19868393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and">
            <a:extLst xmlns:a="http://schemas.openxmlformats.org/drawingml/2006/main">
              <a:ext uri="{FF2B5EF4-FFF2-40B4-BE49-F238E27FC236}">
                <a16:creationId xmlns:a16="http://schemas.microsoft.com/office/drawing/2014/main" id="{CF09C911-0DE8-4A1F-88AC-9FD74E64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08E00E97-8AD4-486C-84CC-D001C542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AE828E-6176-44ED-97E5-472C3DBC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المنتج: بطاقة منصب قابلة للمراجعة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71D1DCE-CA5A-4FCF-B81F-96877A38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record-title">
            <a:extLst xmlns:a="http://schemas.openxmlformats.org/drawingml/2006/main">
              <a:ext uri="{FF2B5EF4-FFF2-40B4-BE49-F238E27FC236}">
                <a16:creationId xmlns:a16="http://schemas.microsoft.com/office/drawing/2014/main" id="{F66D45BD-5133-4C86-80B6-5798A266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76625"/>
            <a:ext cx="131540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60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مهندس ميكانيكي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047750" y="4591050"/>
          <a:ext xmlns:a="http://schemas.openxmlformats.org/drawingml/2006/main" cx="13154025" cy="3181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953500"/>
                <a:gridCol w="4200525"/>
              </a:tblGrid>
              <a:tr h="795338">
                <a:tc>
                  <a:txBody>
                    <a:bodyPr lIns="171450" tIns="95250" rIns="171450" bIns="95250"/>
                    <a:lstStyle/>
                    <a:p>
                      <a:pPr algn="r"/>
                      <a:r>
                        <a:rPr sz="2250" b="0">
                          <a:solidFill>
                            <a:srgbClr val="0C0B1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214401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lIns="171450" tIns="95250" rIns="171450" bIns="95250"/>
                    <a:lstStyle/>
                    <a:p>
                      <a:pPr algn="r" rtl="1"/>
                      <a:r>
                        <a:rPr sz="2250" b="1" lang="ar-SA">
                          <a:solidFill>
                            <a:srgbClr val="0C0B1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الرمز المهني</a:t>
                      </a:r>
                    </a:p>
                  </a:txBody>
                  <a:tcPr marL="91440" marR="91440" marT="45720" marB="45720" anchor="ctr">
                    <a:solidFill>
                      <a:srgbClr val="E7F2F3"/>
                    </a:solidFill>
                  </a:tcPr>
                </a:tc>
              </a:tr>
              <a:tr h="795338">
                <a:tc>
                  <a:txBody>
                    <a:bodyPr lIns="171450" tIns="95250" rIns="171450" bIns="95250"/>
                    <a:lstStyle/>
                    <a:p>
                      <a:pPr algn="r" rtl="1"/>
                      <a:r>
                        <a:rPr sz="2250" b="0" lang="ar-SA">
                          <a:solidFill>
                            <a:srgbClr val="0C0B1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071501  الهندسة الميكانيكية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lIns="171450" tIns="95250" rIns="171450" bIns="95250"/>
                    <a:lstStyle/>
                    <a:p>
                      <a:pPr algn="r" rtl="1"/>
                      <a:r>
                        <a:rPr sz="2250" b="1" lang="ar-SA">
                          <a:solidFill>
                            <a:srgbClr val="0C0B1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التخصص التعليمي</a:t>
                      </a:r>
                    </a:p>
                  </a:txBody>
                  <a:tcPr marL="91440" marR="91440" marT="45720" marB="45720" anchor="ctr">
                    <a:solidFill>
                      <a:srgbClr val="E7F2F3"/>
                    </a:solidFill>
                  </a:tcPr>
                </a:tc>
              </a:tr>
              <a:tr h="795338">
                <a:tc>
                  <a:txBody>
                    <a:bodyPr lIns="171450" tIns="95250" rIns="171450" bIns="95250"/>
                    <a:lstStyle/>
                    <a:p>
                      <a:pPr algn="r" rtl="1"/>
                      <a:r>
                        <a:rPr sz="2250" b="0" lang="ar-SA">
                          <a:solidFill>
                            <a:srgbClr val="0C0B1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الغرض والمسؤوليات والصلاحيات والمتطلبات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lIns="171450" tIns="95250" rIns="171450" bIns="95250"/>
                    <a:lstStyle/>
                    <a:p>
                      <a:pPr algn="r" rtl="1"/>
                      <a:r>
                        <a:rPr sz="2250" b="1" lang="ar-SA">
                          <a:solidFill>
                            <a:srgbClr val="0C0B1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محتوى البطاقة</a:t>
                      </a:r>
                    </a:p>
                  </a:txBody>
                  <a:tcPr marL="91440" marR="91440" marT="45720" marB="45720" anchor="ctr">
                    <a:solidFill>
                      <a:srgbClr val="E7F2F3"/>
                    </a:solidFill>
                  </a:tcPr>
                </a:tc>
              </a:tr>
              <a:tr h="795338">
                <a:tc>
                  <a:txBody>
                    <a:bodyPr lIns="171450" tIns="95250" rIns="171450" bIns="95250"/>
                    <a:lstStyle/>
                    <a:p>
                      <a:pPr algn="r" rtl="1"/>
                      <a:r>
                        <a:rPr sz="2250" b="0" lang="ar-SA">
                          <a:solidFill>
                            <a:srgbClr val="0C0B1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الدرجة ومبرراتها على الإصدار المُراجع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 lIns="171450" tIns="95250" rIns="171450" bIns="95250"/>
                    <a:lstStyle/>
                    <a:p>
                      <a:pPr algn="r" rtl="1"/>
                      <a:r>
                        <a:rPr sz="2250" b="1" lang="ar-SA">
                          <a:solidFill>
                            <a:srgbClr val="0C0B1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نتيجة التقييم</a:t>
                      </a:r>
                    </a:p>
                  </a:txBody>
                  <a:tcPr marL="91440" marR="91440" marT="45720" marB="45720" anchor="ctr">
                    <a:solidFill>
                      <a:srgbClr val="E7F2F3"/>
                    </a:solidFill>
                  </a:tcPr>
                </a:tc>
              </a:tr>
            </a:tbl>
          </a:graphicData>
        </a:graphic>
      </p:graphicFrame>
      <p:sp>
        <p:nvSpPr>
          <p:cNvPr id="7" name="slide-note">
            <a:extLst xmlns:a="http://schemas.openxmlformats.org/drawingml/2006/main">
              <a:ext uri="{FF2B5EF4-FFF2-40B4-BE49-F238E27FC236}">
                <a16:creationId xmlns:a16="http://schemas.microsoft.com/office/drawing/2014/main" id="{CC1166E0-535B-4200-ABA1-4EDF2396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lang="ar-SA">
                <a:solidFill>
                  <a:srgbClr val="4C5262"/>
                </a:solidFill>
                <a:latin typeface="DejaVu Sans"/>
                <a:ea typeface="DejaVu Sans"/>
                <a:cs typeface="DejaVu Sans"/>
              </a:rPr>
              <a:t>مثال مرجعي. استيراد الرمز وحده لا يمنح اعتماداً للمنصب.</a:t>
            </a:r>
          </a:p>
        </p:txBody>
      </p:sp>
    </p:spTree>
    <p:extLst>
      <p:ext uri="{BB962C8B-B14F-4D97-AF65-F5344CB8AC3E}">
        <p14:creationId xmlns:p14="http://schemas.microsoft.com/office/powerpoint/2010/main" val="18371941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rand">
            <a:extLst xmlns:a="http://schemas.openxmlformats.org/drawingml/2006/main">
              <a:ext uri="{FF2B5EF4-FFF2-40B4-BE49-F238E27FC236}">
                <a16:creationId xmlns:a16="http://schemas.microsoft.com/office/drawing/2014/main" id="{37945D24-7348-4511-AD2A-1CA2B0EB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0EF05B73-30E0-4B1F-92FC-9FD45AAF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3FF98D-73C2-4CE2-996B-BB9B6B69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مسؤوليات واضحة ونتائج قابلة للقياس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1CBF7024-570E-441D-A574-D1FD054E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column-title-0">
            <a:extLst xmlns:a="http://schemas.openxmlformats.org/drawingml/2006/main">
              <a:ext uri="{FF2B5EF4-FFF2-40B4-BE49-F238E27FC236}">
                <a16:creationId xmlns:a16="http://schemas.microsoft.com/office/drawing/2014/main" id="{EA5C4EF3-3CFE-455D-9793-3F56677B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62350"/>
            <a:ext cx="605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85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lang="ar-SA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مؤشرات أداء مقترحة</a:t>
            </a:r>
          </a:p>
        </p:txBody>
      </p:sp>
      <p:sp>
        <p:nvSpPr>
          <p:cNvPr id="6" name="item-rule-0">
            <a:extLst xmlns:a="http://schemas.openxmlformats.org/drawingml/2006/main">
              <a:ext uri="{FF2B5EF4-FFF2-40B4-BE49-F238E27FC236}">
                <a16:creationId xmlns:a16="http://schemas.microsoft.com/office/drawing/2014/main" id="{EC3F2D0A-B6AF-490A-970B-786BAE13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C98A08A5-9590-4E45-9EEB-BB74ED8F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76775"/>
            <a:ext cx="577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خفض توقف المعدات بنسبة 20%</a:t>
            </a:r>
          </a:p>
        </p:txBody>
      </p:sp>
      <p:sp>
        <p:nvSpPr>
          <p:cNvPr id="8" name="item-rule-1">
            <a:extLst xmlns:a="http://schemas.openxmlformats.org/drawingml/2006/main">
              <a:ext uri="{FF2B5EF4-FFF2-40B4-BE49-F238E27FC236}">
                <a16:creationId xmlns:a16="http://schemas.microsoft.com/office/drawing/2014/main" id="{626D29DF-B933-43CE-AE8A-750ADDC1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5657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item-1">
            <a:extLst xmlns:a="http://schemas.openxmlformats.org/drawingml/2006/main">
              <a:ext uri="{FF2B5EF4-FFF2-40B4-BE49-F238E27FC236}">
                <a16:creationId xmlns:a16="http://schemas.microsoft.com/office/drawing/2014/main" id="{ED5D23B8-B1DE-4272-A99B-8C32F60D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486400"/>
            <a:ext cx="577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إنجاز 95% من الصيانة المخططة</a:t>
            </a:r>
          </a:p>
        </p:txBody>
      </p:sp>
      <p:sp>
        <p:nvSpPr>
          <p:cNvPr id="10" name="item-rule-2">
            <a:extLst xmlns:a="http://schemas.openxmlformats.org/drawingml/2006/main">
              <a:ext uri="{FF2B5EF4-FFF2-40B4-BE49-F238E27FC236}">
                <a16:creationId xmlns:a16="http://schemas.microsoft.com/office/drawing/2014/main" id="{F92B861B-0E8F-4E04-97F6-AE930A0D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4674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1" name="item-2">
            <a:extLst xmlns:a="http://schemas.openxmlformats.org/drawingml/2006/main">
              <a:ext uri="{FF2B5EF4-FFF2-40B4-BE49-F238E27FC236}">
                <a16:creationId xmlns:a16="http://schemas.microsoft.com/office/drawing/2014/main" id="{39B1A83A-396D-495F-8396-8357425B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296025"/>
            <a:ext cx="577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توثيق جميع تقارير الصيانة</a:t>
            </a:r>
          </a:p>
        </p:txBody>
      </p:sp>
      <p:sp>
        <p:nvSpPr>
          <p:cNvPr id="12" name="column-title-1">
            <a:extLst xmlns:a="http://schemas.openxmlformats.org/drawingml/2006/main">
              <a:ext uri="{FF2B5EF4-FFF2-40B4-BE49-F238E27FC236}">
                <a16:creationId xmlns:a16="http://schemas.microsoft.com/office/drawing/2014/main" id="{17C00E2D-BB73-44AD-98DC-606C94E3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605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85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lang="ar-SA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مثال RACI لخطة الصيانة</a:t>
            </a:r>
          </a:p>
        </p:txBody>
      </p:sp>
      <p:sp>
        <p:nvSpPr>
          <p:cNvPr id="13" name="item-rule-0">
            <a:extLst xmlns:a="http://schemas.openxmlformats.org/drawingml/2006/main">
              <a:ext uri="{FF2B5EF4-FFF2-40B4-BE49-F238E27FC236}">
                <a16:creationId xmlns:a16="http://schemas.microsoft.com/office/drawing/2014/main" id="{C0FC546E-C1A3-4389-B77D-E32AACC3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4" name="item-0">
            <a:extLst xmlns:a="http://schemas.openxmlformats.org/drawingml/2006/main">
              <a:ext uri="{FF2B5EF4-FFF2-40B4-BE49-F238E27FC236}">
                <a16:creationId xmlns:a16="http://schemas.microsoft.com/office/drawing/2014/main" id="{5135CF53-8848-44DD-8A28-BBF3C066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76775"/>
            <a:ext cx="577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R  المهندس الميكانيكي ينفّذ</a:t>
            </a:r>
          </a:p>
        </p:txBody>
      </p:sp>
      <p:sp>
        <p:nvSpPr>
          <p:cNvPr id="15" name="item-rule-1">
            <a:extLst xmlns:a="http://schemas.openxmlformats.org/drawingml/2006/main">
              <a:ext uri="{FF2B5EF4-FFF2-40B4-BE49-F238E27FC236}">
                <a16:creationId xmlns:a16="http://schemas.microsoft.com/office/drawing/2014/main" id="{A74A9F72-BEDC-4532-8F64-3A40C2E2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657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6" name="item-1">
            <a:extLst xmlns:a="http://schemas.openxmlformats.org/drawingml/2006/main">
              <a:ext uri="{FF2B5EF4-FFF2-40B4-BE49-F238E27FC236}">
                <a16:creationId xmlns:a16="http://schemas.microsoft.com/office/drawing/2014/main" id="{1683D58B-1C27-48FF-9856-880730E1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86400"/>
            <a:ext cx="577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A  مدير الهندسة يقرر ويُساءل</a:t>
            </a:r>
          </a:p>
        </p:txBody>
      </p:sp>
      <p:sp>
        <p:nvSpPr>
          <p:cNvPr id="17" name="item-rule-2">
            <a:extLst xmlns:a="http://schemas.openxmlformats.org/drawingml/2006/main">
              <a:ext uri="{FF2B5EF4-FFF2-40B4-BE49-F238E27FC236}">
                <a16:creationId xmlns:a16="http://schemas.microsoft.com/office/drawing/2014/main" id="{6E59C680-4B3F-467C-9CB0-B482F355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64674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8" name="item-2">
            <a:extLst xmlns:a="http://schemas.openxmlformats.org/drawingml/2006/main">
              <a:ext uri="{FF2B5EF4-FFF2-40B4-BE49-F238E27FC236}">
                <a16:creationId xmlns:a16="http://schemas.microsoft.com/office/drawing/2014/main" id="{9F666914-8E3C-473A-93FF-87A2F262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96025"/>
            <a:ext cx="577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C  التشغيل والسلامة يُستشاران</a:t>
            </a:r>
          </a:p>
        </p:txBody>
      </p:sp>
      <p:sp>
        <p:nvSpPr>
          <p:cNvPr id="19" name="item-rule-3">
            <a:extLst xmlns:a="http://schemas.openxmlformats.org/drawingml/2006/main">
              <a:ext uri="{FF2B5EF4-FFF2-40B4-BE49-F238E27FC236}">
                <a16:creationId xmlns:a16="http://schemas.microsoft.com/office/drawing/2014/main" id="{26F62973-2093-4CF4-BB5B-C2BD3D68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7277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20" name="item-3">
            <a:extLst xmlns:a="http://schemas.openxmlformats.org/drawingml/2006/main">
              <a:ext uri="{FF2B5EF4-FFF2-40B4-BE49-F238E27FC236}">
                <a16:creationId xmlns:a16="http://schemas.microsoft.com/office/drawing/2014/main" id="{C5B8E138-6DA1-4F51-BD9E-2241001B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05650"/>
            <a:ext cx="5772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I  مالك الأصل يُبلّغ</a:t>
            </a:r>
          </a:p>
        </p:txBody>
      </p:sp>
      <p:sp>
        <p:nvSpPr>
          <p:cNvPr id="21" name="slide-note">
            <a:extLst xmlns:a="http://schemas.openxmlformats.org/drawingml/2006/main">
              <a:ext uri="{FF2B5EF4-FFF2-40B4-BE49-F238E27FC236}">
                <a16:creationId xmlns:a16="http://schemas.microsoft.com/office/drawing/2014/main" id="{E44E3C91-F499-46B1-8AF4-1C28EC50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lang="ar-SA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أهداف ومسؤوليات افتراضية للتوضيح، وليست نتائج حققتها المنصة.</a:t>
            </a:r>
          </a:p>
        </p:txBody>
      </p:sp>
    </p:spTree>
    <p:extLst>
      <p:ext uri="{BB962C8B-B14F-4D97-AF65-F5344CB8AC3E}">
        <p14:creationId xmlns:p14="http://schemas.microsoft.com/office/powerpoint/2010/main" val="10340232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">
            <a:extLst xmlns:a="http://schemas.openxmlformats.org/drawingml/2006/main">
              <a:ext uri="{FF2B5EF4-FFF2-40B4-BE49-F238E27FC236}">
                <a16:creationId xmlns:a16="http://schemas.microsoft.com/office/drawing/2014/main" id="{468465CE-A62C-42FC-A29A-7BFBA5E6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3C664107-EAC0-4649-B4E1-EEE80891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8E52BE-5F1C-4EBB-9469-D302EDBD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الاعتماد: أربع مراجعات متخصصة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585E948-4C0A-4CE9-8E64-1D65BD53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66017FC8-5278-473C-B627-5609AA63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35814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611BEE06-14DA-4EC5-9BCC-121EFA22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099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70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التطوير التنظيمي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4F543F08-9E10-4EA7-BB68-0D975436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815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250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مبرر الدور وصحة الوصف والتشاور مع الإدارة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02AB19ED-D93A-4868-BD52-5193D588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814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DB7A4709-1295-4717-BB3D-E48A86EA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99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70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التعويضات والمزايا</a:t>
            </a:r>
          </a:p>
        </p:txBody>
      </p:sp>
      <p:sp>
        <p:nvSpPr>
          <p:cNvPr id="1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394A3656-DDDC-4841-94CA-B582408B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815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250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التقييم والدرجة ونطاق الراتب المقترح</a:t>
            </a:r>
          </a:p>
        </p:txBody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C2C1E935-DABF-4D15-8ECA-2E0D9AAE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58102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D0412E4C-A887-417A-AF19-C844C1AA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388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70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المالية والتخطيط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A055BE24-7B6C-441E-803A-3BBD0758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8103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250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العدد والتكلفة والميزانية</a:t>
            </a:r>
          </a:p>
        </p:txBody>
      </p:sp>
      <p:sp>
        <p:nvSpPr>
          <p:cNvPr id="1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B9FB2FA-5471-4DE1-AAE6-17368E06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102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5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F347727A-3DB0-4FF3-9DF1-E57B70B5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3882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70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صاحب الصلاحية</a:t>
            </a:r>
          </a:p>
        </p:txBody>
      </p:sp>
      <p:sp>
        <p:nvSpPr>
          <p:cNvPr id="16" name="step-body-3">
            <a:extLst xmlns:a="http://schemas.openxmlformats.org/drawingml/2006/main">
              <a:ext uri="{FF2B5EF4-FFF2-40B4-BE49-F238E27FC236}">
                <a16:creationId xmlns:a16="http://schemas.microsoft.com/office/drawing/2014/main" id="{D81CA233-EC62-4BCF-9E50-0C2B8DB8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8103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250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القرار النهائي بعد اكتمال المراجعات</a:t>
            </a:r>
          </a:p>
        </p:txBody>
      </p:sp>
      <p:sp>
        <p:nvSpPr>
          <p:cNvPr id="17" name="slide-note">
            <a:extLst xmlns:a="http://schemas.openxmlformats.org/drawingml/2006/main">
              <a:ext uri="{FF2B5EF4-FFF2-40B4-BE49-F238E27FC236}">
                <a16:creationId xmlns:a16="http://schemas.microsoft.com/office/drawing/2014/main" id="{82516257-4DBC-467B-8850-C049E8F9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lang="ar-SA">
                <a:solidFill>
                  <a:srgbClr val="4C5262"/>
                </a:solidFill>
                <a:latin typeface="DejaVu Sans"/>
                <a:ea typeface="DejaVu Sans"/>
                <a:cs typeface="DejaVu Sans"/>
              </a:rPr>
              <a:t>صلاحيات محددة وفصل بين طالب المنصب ومعتمده</a:t>
            </a:r>
          </a:p>
        </p:txBody>
      </p:sp>
    </p:spTree>
    <p:extLst>
      <p:ext uri="{BB962C8B-B14F-4D97-AF65-F5344CB8AC3E}">
        <p14:creationId xmlns:p14="http://schemas.microsoft.com/office/powerpoint/2010/main" val="9345174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BB4B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">
            <a:extLst xmlns:a="http://schemas.openxmlformats.org/drawingml/2006/main">
              <a:ext uri="{FF2B5EF4-FFF2-40B4-BE49-F238E27FC236}">
                <a16:creationId xmlns:a16="http://schemas.microsoft.com/office/drawing/2014/main" id="{3945E471-562C-4F3A-9A39-DFC6CD4C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E42921B9-D357-4ECF-80B6-F988D71C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88A0D8-A5E8-46E2-9E79-25BD5A34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مرجعية سعودية داخل رحلة القرار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8F128F0-BB79-438B-8A29-CE652C55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/>
          </a:solidFill>
          <a:ln xmlns:a="http://schemas.openxmlformats.org/drawingml/2006/main" w="0">
            <a:noFill/>
          </a:ln>
        </p:spPr>
      </p:sp>
      <p:sp>
        <p:nvSpPr>
          <p:cNvPr id="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F1263AC6-592E-46C9-9AFA-DB640FAE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763" y="3571875"/>
            <a:ext cx="6196013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9750" b="1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5,041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13C18D73-D082-4B6B-9AE2-6978A1DF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763" y="5219700"/>
            <a:ext cx="619601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defRPr sz="277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مهنة في دليل SSCO</a:t>
            </a:r>
          </a:p>
        </p:txBody>
      </p:sp>
      <p:sp>
        <p:nvSpPr>
          <p:cNvPr id="7" name="metric-detail-0">
            <a:extLst xmlns:a="http://schemas.openxmlformats.org/drawingml/2006/main">
              <a:ext uri="{FF2B5EF4-FFF2-40B4-BE49-F238E27FC236}">
                <a16:creationId xmlns:a16="http://schemas.microsoft.com/office/drawing/2014/main" id="{9575BEAA-4CBB-4FCC-B786-DFC7A966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763" y="6391275"/>
            <a:ext cx="619601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defRPr sz="217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إصدار 2019</a:t>
            </a:r>
          </a:p>
        </p:txBody>
      </p:sp>
      <p:sp>
        <p:nvSpPr>
          <p:cNvPr id="8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A7B9CA20-8F97-4833-9A71-D2A72814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6196013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9750" b="1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599</a:t>
            </a:r>
          </a:p>
        </p:txBody>
      </p:sp>
      <p:sp>
        <p:nvSpPr>
          <p:cNvPr id="9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227E5F27-417B-4206-921C-C381A09F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619601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defRPr sz="277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تخصصاً تعليمياً</a:t>
            </a:r>
          </a:p>
        </p:txBody>
      </p:sp>
      <p:sp>
        <p:nvSpPr>
          <p:cNvPr id="10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8893A7F0-177D-421A-80F7-3D6DEAC9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91275"/>
            <a:ext cx="619601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defRPr sz="217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مرجع التعليم 2020</a:t>
            </a:r>
          </a:p>
        </p:txBody>
      </p:sp>
      <p:sp>
        <p:nvSpPr>
          <p:cNvPr id="11" name="slide-note">
            <a:extLst xmlns:a="http://schemas.openxmlformats.org/drawingml/2006/main">
              <a:ext uri="{FF2B5EF4-FFF2-40B4-BE49-F238E27FC236}">
                <a16:creationId xmlns:a16="http://schemas.microsoft.com/office/drawing/2014/main" id="{FDA233BF-B65C-4D06-8AFB-1DFA6CFF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lang="ar-SA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مع تنبيهات للفئات المهنية وروابط الجهات الرسمية للمراجعة</a:t>
            </a:r>
          </a:p>
        </p:txBody>
      </p:sp>
    </p:spTree>
    <p:extLst>
      <p:ext uri="{BB962C8B-B14F-4D97-AF65-F5344CB8AC3E}">
        <p14:creationId xmlns:p14="http://schemas.microsoft.com/office/powerpoint/2010/main" val="1663221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">
            <a:extLst xmlns:a="http://schemas.openxmlformats.org/drawingml/2006/main">
              <a:ext uri="{FF2B5EF4-FFF2-40B4-BE49-F238E27FC236}">
                <a16:creationId xmlns:a16="http://schemas.microsoft.com/office/drawing/2014/main" id="{CD317AE2-E842-4D52-A87A-3CD02C75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26F11ACE-50D7-43D6-B14B-6E41B1B0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405D1E-00EE-4331-9B19-6824C5B4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ما يميّز تركيز معيار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B6B1D01-9F22-4379-9788-5C699F43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8035EB1E-388C-44DD-AAE7-C2120752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315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45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المنصب هو محور السجل المؤسسي</a:t>
            </a:r>
          </a:p>
        </p:txBody>
      </p:sp>
      <p:sp>
        <p:nvSpPr>
          <p:cNvPr id="6" name="item-rule-0">
            <a:extLst xmlns:a="http://schemas.openxmlformats.org/drawingml/2006/main">
              <a:ext uri="{FF2B5EF4-FFF2-40B4-BE49-F238E27FC236}">
                <a16:creationId xmlns:a16="http://schemas.microsoft.com/office/drawing/2014/main" id="{584F22C0-5D25-46DE-B34F-2DC39900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5610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2988B792-0500-4706-98C7-A530579C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387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625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مرجع مهني وتعليمي قابل للتتبّع</a:t>
            </a:r>
          </a:p>
        </p:txBody>
      </p:sp>
      <p:sp>
        <p:nvSpPr>
          <p:cNvPr id="8" name="item-rule-1">
            <a:extLst xmlns:a="http://schemas.openxmlformats.org/drawingml/2006/main">
              <a:ext uri="{FF2B5EF4-FFF2-40B4-BE49-F238E27FC236}">
                <a16:creationId xmlns:a16="http://schemas.microsoft.com/office/drawing/2014/main" id="{BD6C7104-78DF-4C0E-A059-3BF8B000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5627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item-1">
            <a:extLst xmlns:a="http://schemas.openxmlformats.org/drawingml/2006/main">
              <a:ext uri="{FF2B5EF4-FFF2-40B4-BE49-F238E27FC236}">
                <a16:creationId xmlns:a16="http://schemas.microsoft.com/office/drawing/2014/main" id="{46660B3D-92A9-40E9-A48F-A5E19065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912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625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الوصف والتقييم والمراجعات على إصدار محدد</a:t>
            </a:r>
          </a:p>
        </p:txBody>
      </p:sp>
      <p:sp>
        <p:nvSpPr>
          <p:cNvPr id="10" name="item-rule-2">
            <a:extLst xmlns:a="http://schemas.openxmlformats.org/drawingml/2006/main">
              <a:ext uri="{FF2B5EF4-FFF2-40B4-BE49-F238E27FC236}">
                <a16:creationId xmlns:a16="http://schemas.microsoft.com/office/drawing/2014/main" id="{F4D39C01-A1C5-4CE2-A2A5-5FFFA2FF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7515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1" name="item-2">
            <a:extLst xmlns:a="http://schemas.openxmlformats.org/drawingml/2006/main">
              <a:ext uri="{FF2B5EF4-FFF2-40B4-BE49-F238E27FC236}">
                <a16:creationId xmlns:a16="http://schemas.microsoft.com/office/drawing/2014/main" id="{809197A6-EFCC-43D4-BEE1-6121D864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3437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625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مسار للأدوار المستحدثة دون اختلاق رمز رسمي</a:t>
            </a:r>
          </a:p>
        </p:txBody>
      </p:sp>
    </p:spTree>
    <p:extLst>
      <p:ext uri="{BB962C8B-B14F-4D97-AF65-F5344CB8AC3E}">
        <p14:creationId xmlns:p14="http://schemas.microsoft.com/office/powerpoint/2010/main" val="14947509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C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b444b3af34d48"/>
          <a:srcRect xmlns:a="http://schemas.openxmlformats.org/drawingml/2006/main" l="0" t="69" r="0" b="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9525" cy="9525000"/>
          </a:xfrm>
          <a:prstGeom xmlns:a="http://schemas.openxmlformats.org/drawingml/2006/main" prst="rect">
            <a:avLst/>
          </a:prstGeom>
        </p:spPr>
      </p:pic>
      <p:sp>
        <p:nvSpPr>
          <p:cNvPr id="2" name="photo-legibility-overlay">
            <a:extLst xmlns:a="http://schemas.openxmlformats.org/drawingml/2006/main">
              <a:ext uri="{FF2B5EF4-FFF2-40B4-BE49-F238E27FC236}">
                <a16:creationId xmlns:a16="http://schemas.microsoft.com/office/drawing/2014/main" id="{75C29861-17B4-4C56-A9AF-A5417797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9525" cy="952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>
              <a:alpha val="5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4B964E3D-4E4A-4E0C-B8D2-92E8043C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FE7035E4-D1DA-49DC-8B5E-5EBEC7B9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0EB3CF-131C-4660-9E65-65E3DDAB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العملاء المستهدفون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AF7E100E-9F0B-44FA-9EE1-ED35C549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7" name="column-title-0">
            <a:extLst xmlns:a="http://schemas.openxmlformats.org/drawingml/2006/main">
              <a:ext uri="{FF2B5EF4-FFF2-40B4-BE49-F238E27FC236}">
                <a16:creationId xmlns:a16="http://schemas.microsoft.com/office/drawing/2014/main" id="{38B4B83F-47A9-4511-9287-2A731FF8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62350"/>
            <a:ext cx="605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85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lang="ar-SA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البداية المقترحة</a:t>
            </a:r>
          </a:p>
        </p:txBody>
      </p:sp>
      <p:sp>
        <p:nvSpPr>
          <p:cNvPr id="8" name="item-rule-0">
            <a:extLst xmlns:a="http://schemas.openxmlformats.org/drawingml/2006/main">
              <a:ext uri="{FF2B5EF4-FFF2-40B4-BE49-F238E27FC236}">
                <a16:creationId xmlns:a16="http://schemas.microsoft.com/office/drawing/2014/main" id="{3AC2E867-AFE8-4628-BD12-748832A1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item-0">
            <a:extLst xmlns:a="http://schemas.openxmlformats.org/drawingml/2006/main">
              <a:ext uri="{FF2B5EF4-FFF2-40B4-BE49-F238E27FC236}">
                <a16:creationId xmlns:a16="http://schemas.microsoft.com/office/drawing/2014/main" id="{34E03B78-67AE-4D8A-BD9D-C97315C5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7677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جامعة أو جهة ذات لجان اعتماد متعددة</a:t>
            </a:r>
          </a:p>
        </p:txBody>
      </p:sp>
      <p:sp>
        <p:nvSpPr>
          <p:cNvPr id="10" name="item-rule-1">
            <a:extLst xmlns:a="http://schemas.openxmlformats.org/drawingml/2006/main">
              <a:ext uri="{FF2B5EF4-FFF2-40B4-BE49-F238E27FC236}">
                <a16:creationId xmlns:a16="http://schemas.microsoft.com/office/drawing/2014/main" id="{D10C27C8-3077-4258-9A52-1095DC3D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59055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7AD89F4C-33C2-4908-8423-4A097C6A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734050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إدارتان لديهما طلبات فعلية للمناصب</a:t>
            </a:r>
          </a:p>
        </p:txBody>
      </p:sp>
      <p:sp>
        <p:nvSpPr>
          <p:cNvPr id="12" name="column-title-1">
            <a:extLst xmlns:a="http://schemas.openxmlformats.org/drawingml/2006/main">
              <a:ext uri="{FF2B5EF4-FFF2-40B4-BE49-F238E27FC236}">
                <a16:creationId xmlns:a16="http://schemas.microsoft.com/office/drawing/2014/main" id="{51E5888E-FC46-49D7-862A-EBB17060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605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85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lang="ar-SA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التوسع بعد التحقق</a:t>
            </a:r>
          </a:p>
        </p:txBody>
      </p:sp>
      <p:sp>
        <p:nvSpPr>
          <p:cNvPr id="13" name="item-rule-0">
            <a:extLst xmlns:a="http://schemas.openxmlformats.org/drawingml/2006/main">
              <a:ext uri="{FF2B5EF4-FFF2-40B4-BE49-F238E27FC236}">
                <a16:creationId xmlns:a16="http://schemas.microsoft.com/office/drawing/2014/main" id="{6B1B0599-9119-4F1D-A749-156F2E75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4" name="item-0">
            <a:extLst xmlns:a="http://schemas.openxmlformats.org/drawingml/2006/main">
              <a:ext uri="{FF2B5EF4-FFF2-40B4-BE49-F238E27FC236}">
                <a16:creationId xmlns:a16="http://schemas.microsoft.com/office/drawing/2014/main" id="{05B42EB1-0F3D-4F43-B796-C4900233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7677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الجهات الحكومية والمنشآت الكبيرة</a:t>
            </a:r>
          </a:p>
        </p:txBody>
      </p:sp>
      <p:sp>
        <p:nvSpPr>
          <p:cNvPr id="15" name="item-rule-1">
            <a:extLst xmlns:a="http://schemas.openxmlformats.org/drawingml/2006/main">
              <a:ext uri="{FF2B5EF4-FFF2-40B4-BE49-F238E27FC236}">
                <a16:creationId xmlns:a16="http://schemas.microsoft.com/office/drawing/2014/main" id="{9F100E30-DA73-4F21-838B-45D1815D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9055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6" name="item-1">
            <a:extLst xmlns:a="http://schemas.openxmlformats.org/drawingml/2006/main">
              <a:ext uri="{FF2B5EF4-FFF2-40B4-BE49-F238E27FC236}">
                <a16:creationId xmlns:a16="http://schemas.microsoft.com/office/drawing/2014/main" id="{9D6FAA98-BF36-4A02-81AB-AAAB505E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المستشفيات والمجموعات متعددة الأنشطة</a:t>
            </a:r>
          </a:p>
        </p:txBody>
      </p:sp>
      <p:sp>
        <p:nvSpPr>
          <p:cNvPr id="17" name="slide-note">
            <a:extLst xmlns:a="http://schemas.openxmlformats.org/drawingml/2006/main">
              <a:ext uri="{FF2B5EF4-FFF2-40B4-BE49-F238E27FC236}">
                <a16:creationId xmlns:a16="http://schemas.microsoft.com/office/drawing/2014/main" id="{85EEA9A0-EEF4-40D9-97F8-2DD16702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lang="ar-SA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شرائح مستهدفة للتجربة والتوسع</a:t>
            </a:r>
          </a:p>
        </p:txBody>
      </p:sp>
    </p:spTree>
    <p:extLst>
      <p:ext uri="{BB962C8B-B14F-4D97-AF65-F5344CB8AC3E}">
        <p14:creationId xmlns:p14="http://schemas.microsoft.com/office/powerpoint/2010/main" val="10804859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">
            <a:extLst xmlns:a="http://schemas.openxmlformats.org/drawingml/2006/main">
              <a:ext uri="{FF2B5EF4-FFF2-40B4-BE49-F238E27FC236}">
                <a16:creationId xmlns:a16="http://schemas.microsoft.com/office/drawing/2014/main" id="{8DB9AC2D-CF25-44D4-9FF0-9809E0A4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CDB77D3D-7AD1-4D82-BC63-0D9785C1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9198D6-4F79-404F-B2A7-FEFF9430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نموذج تجاري مقترح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F64191B-7FB5-41EA-B933-C84966CD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E63C0F49-5F38-4876-A36E-01608FB8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09975"/>
            <a:ext cx="395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09096227-4E86-46CE-AD0D-C74C4291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933950"/>
            <a:ext cx="3952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85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اشتراك مؤسسي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5C2FEBFD-E59A-4B37-8E46-E92BF6A5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229350"/>
            <a:ext cx="3952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اشتراك سنوي لمساحة المؤسسة وصلاحيات فرقها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9D808B86-3BE2-4850-AE5C-DA820218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609975"/>
            <a:ext cx="395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C21D993F-BB19-49EE-9259-E8D254EB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933950"/>
            <a:ext cx="3952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85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تهيئة وتدريب</a:t>
            </a:r>
          </a:p>
        </p:txBody>
      </p:sp>
      <p:sp>
        <p:nvSpPr>
          <p:cNvPr id="1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73DEC717-43DB-40F3-90BD-B2BB0B2E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229350"/>
            <a:ext cx="3952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تهيئة الأطر ومسارات الاعتماد وتدريب المراجعين</a:t>
            </a:r>
          </a:p>
        </p:txBody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3628C685-D16E-4534-A422-2FAD1D71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9975"/>
            <a:ext cx="395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8A460D71-7057-4F10-9C0E-24BB82CD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3952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85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تكاملات اختيارية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ADA2C441-8563-4B26-804F-3F91B1FA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3952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ربط أنظمة الموارد البشرية وفق احتياج الجهة</a:t>
            </a:r>
          </a:p>
        </p:txBody>
      </p:sp>
      <p:sp>
        <p:nvSpPr>
          <p:cNvPr id="14" name="slide-note">
            <a:extLst xmlns:a="http://schemas.openxmlformats.org/drawingml/2006/main">
              <a:ext uri="{FF2B5EF4-FFF2-40B4-BE49-F238E27FC236}">
                <a16:creationId xmlns:a16="http://schemas.microsoft.com/office/drawing/2014/main" id="{64372DE5-FD66-4F52-9C48-A76D14A6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lang="ar-SA">
                <a:solidFill>
                  <a:srgbClr val="4C5262"/>
                </a:solidFill>
                <a:latin typeface="DejaVu Sans"/>
                <a:ea typeface="DejaVu Sans"/>
                <a:cs typeface="DejaVu Sans"/>
              </a:rPr>
              <a:t>التسعير والاستعداد للدفع يُختبران مع الشريك التجريبي</a:t>
            </a:r>
          </a:p>
        </p:txBody>
      </p:sp>
    </p:spTree>
    <p:extLst>
      <p:ext uri="{BB962C8B-B14F-4D97-AF65-F5344CB8AC3E}">
        <p14:creationId xmlns:p14="http://schemas.microsoft.com/office/powerpoint/2010/main" val="19755158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C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rand">
            <a:extLst xmlns:a="http://schemas.openxmlformats.org/drawingml/2006/main">
              <a:ext uri="{FF2B5EF4-FFF2-40B4-BE49-F238E27FC236}">
                <a16:creationId xmlns:a16="http://schemas.microsoft.com/office/drawing/2014/main" id="{22BD4B90-EDC2-4A4B-88CC-5490B4E2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F02B7882-F78B-44B5-B589-0EDF3ADC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D1DE8A-42E8-47B3-8D82-16D57E89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خطة الدخول إلى السوق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03369FB-5956-4AE3-80CB-3CCEDD78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18535582-939E-4284-89CE-0D82DBA8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09975"/>
            <a:ext cx="395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A293B24F-2B49-444D-A69F-5D7766C6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933950"/>
            <a:ext cx="3952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85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شريك تجريبي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ECEFC960-B8F4-4D72-88E5-BB16A8C5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229350"/>
            <a:ext cx="3952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تجربة محددة النطاق على أوصاف وطلبات فعلية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62DC7ABF-82F0-4BF7-8C80-B43116DC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609975"/>
            <a:ext cx="395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F4447E40-A87C-4E6F-B663-E29697CF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933950"/>
            <a:ext cx="3952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85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تعاقد مؤسسي</a:t>
            </a:r>
          </a:p>
        </p:txBody>
      </p:sp>
      <p:sp>
        <p:nvSpPr>
          <p:cNvPr id="1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512894BE-BCF8-4D92-A511-3233E12D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229350"/>
            <a:ext cx="3952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قرار تبنٍّ يستند إلى قيمة مقاسة وتجربة استخدام</a:t>
            </a:r>
          </a:p>
        </p:txBody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0DDF665F-0F17-4159-9AE5-7943EE9B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9975"/>
            <a:ext cx="3952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570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0C8EE39B-B830-461B-8441-04E0E295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39528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85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قنوات متخصصة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036376F-C48C-4AF2-BC06-5A0D4BE3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3952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تعاون مع مكاتب التطوير التنظيمي وتنفيذ أنظمة الموارد البشرية</a:t>
            </a:r>
          </a:p>
        </p:txBody>
      </p:sp>
      <p:sp>
        <p:nvSpPr>
          <p:cNvPr id="14" name="slide-note">
            <a:extLst xmlns:a="http://schemas.openxmlformats.org/drawingml/2006/main">
              <a:ext uri="{FF2B5EF4-FFF2-40B4-BE49-F238E27FC236}">
                <a16:creationId xmlns:a16="http://schemas.microsoft.com/office/drawing/2014/main" id="{93356800-403A-44D9-B327-CBEDE06A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lang="ar-SA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خطة مقترحة، وليست عقوداً أو شراكات قائمة</a:t>
            </a:r>
          </a:p>
        </p:txBody>
      </p:sp>
    </p:spTree>
    <p:extLst>
      <p:ext uri="{BB962C8B-B14F-4D97-AF65-F5344CB8AC3E}">
        <p14:creationId xmlns:p14="http://schemas.microsoft.com/office/powerpoint/2010/main" val="10032443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BB4B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">
            <a:extLst xmlns:a="http://schemas.openxmlformats.org/drawingml/2006/main">
              <a:ext uri="{FF2B5EF4-FFF2-40B4-BE49-F238E27FC236}">
                <a16:creationId xmlns:a16="http://schemas.microsoft.com/office/drawing/2014/main" id="{73F1B55E-7FE5-45C5-8A6A-C8A58EC9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0D9AD039-F099-4876-A515-14984510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36B303-F219-4090-86CB-D5BDD16F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التقدم الحالي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5D55AFA3-4C6D-418D-9242-C9BEF064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/>
          </a:solidFill>
          <a:ln xmlns:a="http://schemas.openxmlformats.org/drawingml/2006/main" w="0">
            <a:noFill/>
          </a:ln>
        </p:spPr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C0C0C4D1-AB72-4290-8969-96999BEF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315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45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منصة عاملة متاحة للتجربة</a:t>
            </a:r>
          </a:p>
        </p:txBody>
      </p:sp>
      <p:sp>
        <p:nvSpPr>
          <p:cNvPr id="6" name="item-rule-0">
            <a:extLst xmlns:a="http://schemas.openxmlformats.org/drawingml/2006/main">
              <a:ext uri="{FF2B5EF4-FFF2-40B4-BE49-F238E27FC236}">
                <a16:creationId xmlns:a16="http://schemas.microsoft.com/office/drawing/2014/main" id="{FDC202CC-FBCD-4F41-910E-BB576AE0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5610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/>
          </a:solidFill>
          <a:ln xmlns:a="http://schemas.openxmlformats.org/drawingml/2006/main" w="0">
            <a:noFill/>
          </a:ln>
        </p:spPr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A88CBC35-CAA1-4BB8-8BE7-BBAE44A5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387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6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واجهة عربية وإنجليزية مع نموذج قابل للتعديل</a:t>
            </a:r>
          </a:p>
        </p:txBody>
      </p:sp>
      <p:sp>
        <p:nvSpPr>
          <p:cNvPr id="8" name="item-rule-1">
            <a:extLst xmlns:a="http://schemas.openxmlformats.org/drawingml/2006/main">
              <a:ext uri="{FF2B5EF4-FFF2-40B4-BE49-F238E27FC236}">
                <a16:creationId xmlns:a16="http://schemas.microsoft.com/office/drawing/2014/main" id="{6F83A750-21C3-432A-9029-33941E18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5627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/>
          </a:solidFill>
          <a:ln xmlns:a="http://schemas.openxmlformats.org/drawingml/2006/main" w="0">
            <a:noFill/>
          </a:ln>
        </p:spPr>
      </p:sp>
      <p:sp>
        <p:nvSpPr>
          <p:cNvPr id="9" name="item-1">
            <a:extLst xmlns:a="http://schemas.openxmlformats.org/drawingml/2006/main">
              <a:ext uri="{FF2B5EF4-FFF2-40B4-BE49-F238E27FC236}">
                <a16:creationId xmlns:a16="http://schemas.microsoft.com/office/drawing/2014/main" id="{648D2293-59E8-4648-8F3A-84101E97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912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6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حفظ المناصب ومراجعاتها وتوثيق إصداراتها</a:t>
            </a:r>
          </a:p>
        </p:txBody>
      </p:sp>
      <p:sp>
        <p:nvSpPr>
          <p:cNvPr id="10" name="item-rule-2">
            <a:extLst xmlns:a="http://schemas.openxmlformats.org/drawingml/2006/main">
              <a:ext uri="{FF2B5EF4-FFF2-40B4-BE49-F238E27FC236}">
                <a16:creationId xmlns:a16="http://schemas.microsoft.com/office/drawing/2014/main" id="{F8118DBD-A21D-46E0-8000-81C7B3B3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7515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/>
          </a:solidFill>
          <a:ln xmlns:a="http://schemas.openxmlformats.org/drawingml/2006/main" w="0">
            <a:noFill/>
          </a:ln>
        </p:spPr>
      </p:sp>
      <p:sp>
        <p:nvSpPr>
          <p:cNvPr id="11" name="item-2">
            <a:extLst xmlns:a="http://schemas.openxmlformats.org/drawingml/2006/main">
              <a:ext uri="{FF2B5EF4-FFF2-40B4-BE49-F238E27FC236}">
                <a16:creationId xmlns:a16="http://schemas.microsoft.com/office/drawing/2014/main" id="{8F53983B-CA46-4FF2-866C-6B351592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343775"/>
            <a:ext cx="128682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6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تصدير PDF وWord وExcel</a:t>
            </a:r>
          </a:p>
        </p:txBody>
      </p:sp>
      <p:sp>
        <p:nvSpPr>
          <p:cNvPr id="12" name="slide-note">
            <a:extLst xmlns:a="http://schemas.openxmlformats.org/drawingml/2006/main">
              <a:ext uri="{FF2B5EF4-FFF2-40B4-BE49-F238E27FC236}">
                <a16:creationId xmlns:a16="http://schemas.microsoft.com/office/drawing/2014/main" id="{7E05BB23-F4B5-49AB-B75B-E8A74E36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lang="ar-SA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الخطوة التالية: قياس القيمة مع مؤسسة تجريبية</a:t>
            </a:r>
          </a:p>
        </p:txBody>
      </p:sp>
    </p:spTree>
    <p:extLst>
      <p:ext uri="{BB962C8B-B14F-4D97-AF65-F5344CB8AC3E}">
        <p14:creationId xmlns:p14="http://schemas.microsoft.com/office/powerpoint/2010/main" val="3179992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">
            <a:extLst xmlns:a="http://schemas.openxmlformats.org/drawingml/2006/main">
              <a:ext uri="{FF2B5EF4-FFF2-40B4-BE49-F238E27FC236}">
                <a16:creationId xmlns:a16="http://schemas.microsoft.com/office/drawing/2014/main" id="{6629D04A-FC96-45FD-9C8B-846FA6F1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086D64F5-9576-4EE7-B4E7-17E54C4A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3E7CF7-E476-41E0-BF69-A261B65A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قدرات اليوم وخطة التوسع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D2CEF1C-C7FB-4EC5-9A1D-94AC19E9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column-title-0">
            <a:extLst xmlns:a="http://schemas.openxmlformats.org/drawingml/2006/main">
              <a:ext uri="{FF2B5EF4-FFF2-40B4-BE49-F238E27FC236}">
                <a16:creationId xmlns:a16="http://schemas.microsoft.com/office/drawing/2014/main" id="{0D2E6622-DCDA-4F4F-A6AF-23FB1D13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562350"/>
            <a:ext cx="605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85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lang="ar-SA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متاح الآن</a:t>
            </a:r>
          </a:p>
        </p:txBody>
      </p:sp>
      <p:sp>
        <p:nvSpPr>
          <p:cNvPr id="6" name="item-rule-0">
            <a:extLst xmlns:a="http://schemas.openxmlformats.org/drawingml/2006/main">
              <a:ext uri="{FF2B5EF4-FFF2-40B4-BE49-F238E27FC236}">
                <a16:creationId xmlns:a16="http://schemas.microsoft.com/office/drawing/2014/main" id="{E91B7AE4-B5E2-4FD4-B151-211C520A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7" name="item-0">
            <a:extLst xmlns:a="http://schemas.openxmlformats.org/drawingml/2006/main">
              <a:ext uri="{FF2B5EF4-FFF2-40B4-BE49-F238E27FC236}">
                <a16:creationId xmlns:a16="http://schemas.microsoft.com/office/drawing/2014/main" id="{DB7C4BAA-1BE2-4D7E-A153-2D4CF0CB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7677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بحث مرجعي وتوليد مؤشرات بقواعد محلية</a:t>
            </a:r>
          </a:p>
        </p:txBody>
      </p:sp>
      <p:sp>
        <p:nvSpPr>
          <p:cNvPr id="8" name="item-rule-1">
            <a:extLst xmlns:a="http://schemas.openxmlformats.org/drawingml/2006/main">
              <a:ext uri="{FF2B5EF4-FFF2-40B4-BE49-F238E27FC236}">
                <a16:creationId xmlns:a16="http://schemas.microsoft.com/office/drawing/2014/main" id="{63BF8A87-2D41-441E-A757-B9E2C5FC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59055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item-1">
            <a:extLst xmlns:a="http://schemas.openxmlformats.org/drawingml/2006/main">
              <a:ext uri="{FF2B5EF4-FFF2-40B4-BE49-F238E27FC236}">
                <a16:creationId xmlns:a16="http://schemas.microsoft.com/office/drawing/2014/main" id="{7AD45CFA-A53B-4245-A9DF-E4B9D73F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734050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إطار تقييم الجهة وتوثيق تقارير المختص</a:t>
            </a:r>
          </a:p>
        </p:txBody>
      </p:sp>
      <p:sp>
        <p:nvSpPr>
          <p:cNvPr id="10" name="item-rule-2">
            <a:extLst xmlns:a="http://schemas.openxmlformats.org/drawingml/2006/main">
              <a:ext uri="{FF2B5EF4-FFF2-40B4-BE49-F238E27FC236}">
                <a16:creationId xmlns:a16="http://schemas.microsoft.com/office/drawing/2014/main" id="{F60F62A3-C105-43DC-A9AC-84D06BBD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9627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1" name="item-2">
            <a:extLst xmlns:a="http://schemas.openxmlformats.org/drawingml/2006/main">
              <a:ext uri="{FF2B5EF4-FFF2-40B4-BE49-F238E27FC236}">
                <a16:creationId xmlns:a16="http://schemas.microsoft.com/office/drawing/2014/main" id="{1B455302-5C62-40E1-B74A-F2968D1B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79132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تنبيهات مهنية ومراجعة مصادر الاشتراطات</a:t>
            </a:r>
          </a:p>
        </p:txBody>
      </p:sp>
      <p:sp>
        <p:nvSpPr>
          <p:cNvPr id="12" name="column-title-1">
            <a:extLst xmlns:a="http://schemas.openxmlformats.org/drawingml/2006/main">
              <a:ext uri="{FF2B5EF4-FFF2-40B4-BE49-F238E27FC236}">
                <a16:creationId xmlns:a16="http://schemas.microsoft.com/office/drawing/2014/main" id="{77B5390F-9673-4AA4-BFFE-2F641E72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605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85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lang="ar-SA">
                <a:solidFill>
                  <a:srgbClr val="1BB4BD"/>
                </a:solidFill>
                <a:latin typeface="DejaVu Sans"/>
                <a:ea typeface="DejaVu Sans"/>
                <a:cs typeface="DejaVu Sans"/>
              </a:rPr>
              <a:t>للتفعيل والتحقق</a:t>
            </a:r>
          </a:p>
        </p:txBody>
      </p:sp>
      <p:sp>
        <p:nvSpPr>
          <p:cNvPr id="13" name="item-rule-0">
            <a:extLst xmlns:a="http://schemas.openxmlformats.org/drawingml/2006/main">
              <a:ext uri="{FF2B5EF4-FFF2-40B4-BE49-F238E27FC236}">
                <a16:creationId xmlns:a16="http://schemas.microsoft.com/office/drawing/2014/main" id="{FEC58781-1EA5-49E7-A96F-EA7D2E2D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48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4" name="item-0">
            <a:extLst xmlns:a="http://schemas.openxmlformats.org/drawingml/2006/main">
              <a:ext uri="{FF2B5EF4-FFF2-40B4-BE49-F238E27FC236}">
                <a16:creationId xmlns:a16="http://schemas.microsoft.com/office/drawing/2014/main" id="{868627F8-F0C8-4FF4-9BF9-35984539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7677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نموذج توليد وترشيح دلالي يخضع لتقييم خبراء</a:t>
            </a:r>
          </a:p>
        </p:txBody>
      </p:sp>
      <p:sp>
        <p:nvSpPr>
          <p:cNvPr id="15" name="item-rule-1">
            <a:extLst xmlns:a="http://schemas.openxmlformats.org/drawingml/2006/main">
              <a:ext uri="{FF2B5EF4-FFF2-40B4-BE49-F238E27FC236}">
                <a16:creationId xmlns:a16="http://schemas.microsoft.com/office/drawing/2014/main" id="{89C2594D-50E8-4736-8D41-48D76AF9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9055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6" name="item-1">
            <a:extLst xmlns:a="http://schemas.openxmlformats.org/drawingml/2006/main">
              <a:ext uri="{FF2B5EF4-FFF2-40B4-BE49-F238E27FC236}">
                <a16:creationId xmlns:a16="http://schemas.microsoft.com/office/drawing/2014/main" id="{197FCD25-3A83-4DAD-8163-09AB895F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34050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تكاملات مصرح بها مع أنظمة المؤسسة</a:t>
            </a:r>
          </a:p>
        </p:txBody>
      </p:sp>
      <p:sp>
        <p:nvSpPr>
          <p:cNvPr id="17" name="item-rule-2">
            <a:extLst xmlns:a="http://schemas.openxmlformats.org/drawingml/2006/main">
              <a:ext uri="{FF2B5EF4-FFF2-40B4-BE49-F238E27FC236}">
                <a16:creationId xmlns:a16="http://schemas.microsoft.com/office/drawing/2014/main" id="{6DE2BD5A-AE9D-4A83-9E42-AD0AEAD4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696277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8" name="item-2">
            <a:extLst xmlns:a="http://schemas.openxmlformats.org/drawingml/2006/main">
              <a:ext uri="{FF2B5EF4-FFF2-40B4-BE49-F238E27FC236}">
                <a16:creationId xmlns:a16="http://schemas.microsoft.com/office/drawing/2014/main" id="{A2794132-8779-492B-9460-381D76B6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91325"/>
            <a:ext cx="57721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325" b="0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قياس الدقة والوقت والتكلفة في تجربة ميدانية</a:t>
            </a:r>
          </a:p>
        </p:txBody>
      </p:sp>
      <p:sp>
        <p:nvSpPr>
          <p:cNvPr id="19" name="slide-note">
            <a:extLst xmlns:a="http://schemas.openxmlformats.org/drawingml/2006/main">
              <a:ext uri="{FF2B5EF4-FFF2-40B4-BE49-F238E27FC236}">
                <a16:creationId xmlns:a16="http://schemas.microsoft.com/office/drawing/2014/main" id="{40CEB1FF-075E-4988-AF31-D121E351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lang="ar-SA">
                <a:solidFill>
                  <a:srgbClr val="4C5262"/>
                </a:solidFill>
                <a:latin typeface="DejaVu Sans"/>
                <a:ea typeface="DejaVu Sans"/>
                <a:cs typeface="DejaVu Sans"/>
              </a:rPr>
              <a:t>المنصة لا تحسب منهجية Korn Ferry الأصلية ولا تضمن الامتثال تلقائياً</a:t>
            </a:r>
          </a:p>
        </p:txBody>
      </p:sp>
    </p:spTree>
    <p:extLst>
      <p:ext uri="{BB962C8B-B14F-4D97-AF65-F5344CB8AC3E}">
        <p14:creationId xmlns:p14="http://schemas.microsoft.com/office/powerpoint/2010/main" val="5609093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C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rand">
            <a:extLst xmlns:a="http://schemas.openxmlformats.org/drawingml/2006/main">
              <a:ext uri="{FF2B5EF4-FFF2-40B4-BE49-F238E27FC236}">
                <a16:creationId xmlns:a16="http://schemas.microsoft.com/office/drawing/2014/main" id="{FFF70CB2-7C6F-476E-B20C-1BE05161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F8D31ED6-901E-4E8E-9136-55C9BD3F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10B06D-E881-4FAF-819F-7C729224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تجربة مؤسسية قابلة للقياس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C44E2AC-1DA0-43F0-A2E6-144AEDEB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2D5B3D7C-162F-49BB-A055-80BA7297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3571875"/>
            <a:ext cx="4003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8100" b="1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01E6983E-F07A-4483-AFD0-9F16BBBA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5219700"/>
            <a:ext cx="40036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defRPr sz="277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أسابيع</a:t>
            </a:r>
          </a:p>
        </p:txBody>
      </p:sp>
      <p:sp>
        <p:nvSpPr>
          <p:cNvPr id="7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0CB57203-1A5C-4C0C-ADA1-369A260A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25" y="3571875"/>
            <a:ext cx="4003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8100" b="1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8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F0D479DB-78BD-41DE-B0EF-CD54D25B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25" y="5219700"/>
            <a:ext cx="40036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defRPr sz="277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منصباً</a:t>
            </a:r>
          </a:p>
        </p:txBody>
      </p:sp>
      <p:sp>
        <p:nvSpPr>
          <p:cNvPr id="9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CBE4E3CE-1885-4DE0-B3B9-FB3F474C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40036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1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8100" b="1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0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97616064-D5AD-46EF-9C95-EC6F6B52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40036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rtl="1">
              <a:defRPr sz="277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إدارتان</a:t>
            </a:r>
          </a:p>
        </p:txBody>
      </p:sp>
      <p:sp>
        <p:nvSpPr>
          <p:cNvPr id="11" name="item-rule-0">
            <a:extLst xmlns:a="http://schemas.openxmlformats.org/drawingml/2006/main">
              <a:ext uri="{FF2B5EF4-FFF2-40B4-BE49-F238E27FC236}">
                <a16:creationId xmlns:a16="http://schemas.microsoft.com/office/drawing/2014/main" id="{17416DD6-0555-4070-9F80-713D2C3B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610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2" name="item-0">
            <a:extLst xmlns:a="http://schemas.openxmlformats.org/drawingml/2006/main">
              <a:ext uri="{FF2B5EF4-FFF2-40B4-BE49-F238E27FC236}">
                <a16:creationId xmlns:a16="http://schemas.microsoft.com/office/drawing/2014/main" id="{686C9AEF-238A-4852-8B27-F79A0F1B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38900"/>
            <a:ext cx="12868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17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مقارنة زمن إعداد الحزمة قبل التجربة وبعدها</a:t>
            </a:r>
          </a:p>
        </p:txBody>
      </p:sp>
      <p:sp>
        <p:nvSpPr>
          <p:cNvPr id="13" name="item-rule-1">
            <a:extLst xmlns:a="http://schemas.openxmlformats.org/drawingml/2006/main">
              <a:ext uri="{FF2B5EF4-FFF2-40B4-BE49-F238E27FC236}">
                <a16:creationId xmlns:a16="http://schemas.microsoft.com/office/drawing/2014/main" id="{A6EC7C66-9BE7-4EB4-8862-953825F2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72104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4" name="item-1">
            <a:extLst xmlns:a="http://schemas.openxmlformats.org/drawingml/2006/main">
              <a:ext uri="{FF2B5EF4-FFF2-40B4-BE49-F238E27FC236}">
                <a16:creationId xmlns:a16="http://schemas.microsoft.com/office/drawing/2014/main" id="{5FD8E644-0347-4162-9D89-EA3386C2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38975"/>
            <a:ext cx="12868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17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قياس اكتمال الأدلة واتفاق المراجعين</a:t>
            </a:r>
          </a:p>
        </p:txBody>
      </p:sp>
      <p:sp>
        <p:nvSpPr>
          <p:cNvPr id="15" name="item-rule-2">
            <a:extLst xmlns:a="http://schemas.openxmlformats.org/drawingml/2006/main">
              <a:ext uri="{FF2B5EF4-FFF2-40B4-BE49-F238E27FC236}">
                <a16:creationId xmlns:a16="http://schemas.microsoft.com/office/drawing/2014/main" id="{E32733B9-DCFB-4B26-A004-659FF739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78105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6" name="item-2">
            <a:extLst xmlns:a="http://schemas.openxmlformats.org/drawingml/2006/main">
              <a:ext uri="{FF2B5EF4-FFF2-40B4-BE49-F238E27FC236}">
                <a16:creationId xmlns:a16="http://schemas.microsoft.com/office/drawing/2014/main" id="{E2A22252-BA19-4BB5-9E7D-BE55102F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39050"/>
            <a:ext cx="12868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17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توثيق الملاحظات وقرار التبنّي في النهاية</a:t>
            </a:r>
          </a:p>
        </p:txBody>
      </p:sp>
      <p:sp>
        <p:nvSpPr>
          <p:cNvPr id="17" name="slide-note">
            <a:extLst xmlns:a="http://schemas.openxmlformats.org/drawingml/2006/main">
              <a:ext uri="{FF2B5EF4-FFF2-40B4-BE49-F238E27FC236}">
                <a16:creationId xmlns:a16="http://schemas.microsoft.com/office/drawing/2014/main" id="{BE11ADB6-9FB5-4A62-8DA7-3FF82A37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lang="ar-SA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نطاق مقترح يُعتمد مع الجهة المشاركة؛ الأرقام ليست نتائج محققة</a:t>
            </a:r>
          </a:p>
        </p:txBody>
      </p:sp>
    </p:spTree>
    <p:extLst>
      <p:ext uri="{BB962C8B-B14F-4D97-AF65-F5344CB8AC3E}">
        <p14:creationId xmlns:p14="http://schemas.microsoft.com/office/powerpoint/2010/main" val="209260813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">
            <a:extLst xmlns:a="http://schemas.openxmlformats.org/drawingml/2006/main">
              <a:ext uri="{FF2B5EF4-FFF2-40B4-BE49-F238E27FC236}">
                <a16:creationId xmlns:a16="http://schemas.microsoft.com/office/drawing/2014/main" id="{4D48CBB5-4C8C-4124-9398-40B418BB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2" name="folio">
            <a:extLst xmlns:a="http://schemas.openxmlformats.org/drawingml/2006/main">
              <a:ext uri="{FF2B5EF4-FFF2-40B4-BE49-F238E27FC236}">
                <a16:creationId xmlns:a16="http://schemas.microsoft.com/office/drawing/2014/main" id="{443E0A93-112F-462C-B70B-51A42939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138743-AA1B-416F-A4EF-FA2D4845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فريق معيار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848CB9-BA4D-4144-A9D8-D105306D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5" name="person-rule-0">
            <a:extLst xmlns:a="http://schemas.openxmlformats.org/drawingml/2006/main">
              <a:ext uri="{FF2B5EF4-FFF2-40B4-BE49-F238E27FC236}">
                <a16:creationId xmlns:a16="http://schemas.microsoft.com/office/drawing/2014/main" id="{3F927E27-80BA-4C88-8D89-9E3FAF9E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38862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6" name="person-name-0">
            <a:extLst xmlns:a="http://schemas.openxmlformats.org/drawingml/2006/main">
              <a:ext uri="{FF2B5EF4-FFF2-40B4-BE49-F238E27FC236}">
                <a16:creationId xmlns:a16="http://schemas.microsoft.com/office/drawing/2014/main" id="{354B9EA6-2360-49EF-8B45-EC42284B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91025"/>
            <a:ext cx="624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45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أ.د. أديب نور</a:t>
            </a:r>
          </a:p>
        </p:txBody>
      </p:sp>
      <p:sp>
        <p:nvSpPr>
          <p:cNvPr id="7" name="person-detail-0">
            <a:extLst xmlns:a="http://schemas.openxmlformats.org/drawingml/2006/main">
              <a:ext uri="{FF2B5EF4-FFF2-40B4-BE49-F238E27FC236}">
                <a16:creationId xmlns:a16="http://schemas.microsoft.com/office/drawing/2014/main" id="{8545CD11-A7A7-42BA-B4FD-3107EDE1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86425"/>
            <a:ext cx="6248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550" b="0">
                <a:solidFill>
                  <a:srgbClr val="4C5262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 lang="ar-SA">
                <a:solidFill>
                  <a:srgbClr val="4C5262"/>
                </a:solidFill>
                <a:latin typeface="DejaVu Sans"/>
                <a:ea typeface="DejaVu Sans"/>
                <a:cs typeface="DejaVu Sans"/>
              </a:rPr>
              <a:t>جامعة الملك عبدالعزيز</a:t>
            </a:r>
          </a:p>
          <a:p xmlns:a="http://schemas.openxmlformats.org/drawingml/2006/main">
            <a:pPr algn="r" rtl="1">
              <a:defRPr sz="2550" b="0">
                <a:solidFill>
                  <a:srgbClr val="4C5262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 lang="ar-SA">
                <a:solidFill>
                  <a:srgbClr val="4C5262"/>
                </a:solidFill>
                <a:latin typeface="DejaVu Sans"/>
                <a:ea typeface="DejaVu Sans"/>
                <a:cs typeface="DejaVu Sans"/>
              </a:rPr>
              <a:t>كلية الحاسبات وتقنية المعلومات</a:t>
            </a:r>
          </a:p>
        </p:txBody>
      </p:sp>
      <p:sp>
        <p:nvSpPr>
          <p:cNvPr id="8" name="person-rule-1">
            <a:extLst xmlns:a="http://schemas.openxmlformats.org/drawingml/2006/main">
              <a:ext uri="{FF2B5EF4-FFF2-40B4-BE49-F238E27FC236}">
                <a16:creationId xmlns:a16="http://schemas.microsoft.com/office/drawing/2014/main" id="{84EFD257-42EE-42F7-8493-A6F492FD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862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person-name-1">
            <a:extLst xmlns:a="http://schemas.openxmlformats.org/drawingml/2006/main">
              <a:ext uri="{FF2B5EF4-FFF2-40B4-BE49-F238E27FC236}">
                <a16:creationId xmlns:a16="http://schemas.microsoft.com/office/drawing/2014/main" id="{3C757685-34E5-4723-BA3E-FD81C673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91025"/>
            <a:ext cx="624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450" b="1">
                <a:solidFill>
                  <a:srgbClr val="0C0B1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lang="ar-SA">
                <a:solidFill>
                  <a:srgbClr val="0C0B1D"/>
                </a:solidFill>
                <a:latin typeface="DejaVu Sans"/>
                <a:ea typeface="DejaVu Sans"/>
                <a:cs typeface="DejaVu Sans"/>
              </a:rPr>
              <a:t>أحمد رضا خان</a:t>
            </a:r>
          </a:p>
        </p:txBody>
      </p:sp>
      <p:sp>
        <p:nvSpPr>
          <p:cNvPr id="10" name="person-detail-1">
            <a:extLst xmlns:a="http://schemas.openxmlformats.org/drawingml/2006/main">
              <a:ext uri="{FF2B5EF4-FFF2-40B4-BE49-F238E27FC236}">
                <a16:creationId xmlns:a16="http://schemas.microsoft.com/office/drawing/2014/main" id="{6E7CB2E9-190A-4A82-BAC7-37D28489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86425"/>
            <a:ext cx="6248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550" b="0">
                <a:solidFill>
                  <a:srgbClr val="4C5262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 lang="ar-SA">
                <a:solidFill>
                  <a:srgbClr val="4C5262"/>
                </a:solidFill>
                <a:latin typeface="DejaVu Sans"/>
                <a:ea typeface="DejaVu Sans"/>
                <a:cs typeface="DejaVu Sans"/>
              </a:rPr>
              <a:t>فريق مشروع معيار</a:t>
            </a:r>
          </a:p>
        </p:txBody>
      </p:sp>
      <p:sp>
        <p:nvSpPr>
          <p:cNvPr id="11" name="slide-note">
            <a:extLst xmlns:a="http://schemas.openxmlformats.org/drawingml/2006/main">
              <a:ext uri="{FF2B5EF4-FFF2-40B4-BE49-F238E27FC236}">
                <a16:creationId xmlns:a16="http://schemas.microsoft.com/office/drawing/2014/main" id="{DC2F8B73-DEED-4192-BAB7-83D64B9E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725" b="0">
                <a:solidFill>
                  <a:srgbClr val="4C5262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lang="ar-SA">
                <a:solidFill>
                  <a:srgbClr val="4C5262"/>
                </a:solidFill>
                <a:latin typeface="DejaVu Sans"/>
                <a:ea typeface="DejaVu Sans"/>
                <a:cs typeface="DejaVu Sans"/>
              </a:rPr>
              <a:t>نرحب بمشاركة مختصي التطوير التنظيمي والتقييم الوظيفي في التجربة</a:t>
            </a:r>
          </a:p>
        </p:txBody>
      </p:sp>
    </p:spTree>
    <p:extLst>
      <p:ext uri="{BB962C8B-B14F-4D97-AF65-F5344CB8AC3E}">
        <p14:creationId xmlns:p14="http://schemas.microsoft.com/office/powerpoint/2010/main" val="2223385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C0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6b91851154df4"/>
          <a:srcRect xmlns:a="http://schemas.openxmlformats.org/drawingml/2006/main" l="0" t="69" r="0" b="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9525" cy="9525000"/>
          </a:xfrm>
          <a:prstGeom xmlns:a="http://schemas.openxmlformats.org/drawingml/2006/main" prst="rect">
            <a:avLst/>
          </a:prstGeom>
        </p:spPr>
      </p:pic>
      <p:sp>
        <p:nvSpPr>
          <p:cNvPr id="2" name="photo-legibility-overlay">
            <a:extLst xmlns:a="http://schemas.openxmlformats.org/drawingml/2006/main">
              <a:ext uri="{FF2B5EF4-FFF2-40B4-BE49-F238E27FC236}">
                <a16:creationId xmlns:a16="http://schemas.microsoft.com/office/drawing/2014/main" id="{C39D4D03-2900-46E9-B5BE-4EB34334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9525" cy="952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B1D">
              <a:alpha val="5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823E7C32-43E3-44DC-B65E-BAC60699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53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MIYAR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D6D97710-2164-4444-9A85-B217A6F1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32FCAB-F573-421A-BDCB-3E7A8977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76375"/>
            <a:ext cx="131540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90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المطلوب من مركز الابتكار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FEB28DCE-566B-4004-8721-EC7FFB65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275" y="2943225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7" name="statement">
            <a:extLst xmlns:a="http://schemas.openxmlformats.org/drawingml/2006/main">
              <a:ext uri="{FF2B5EF4-FFF2-40B4-BE49-F238E27FC236}">
                <a16:creationId xmlns:a16="http://schemas.microsoft.com/office/drawing/2014/main" id="{FC82C9E7-6A6B-4F7F-B79F-7426D511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315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3450" b="1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شريك مؤسسي لتجربة معيار</a:t>
            </a:r>
          </a:p>
        </p:txBody>
      </p:sp>
      <p:sp>
        <p:nvSpPr>
          <p:cNvPr id="8" name="item-rule-0">
            <a:extLst xmlns:a="http://schemas.openxmlformats.org/drawingml/2006/main">
              <a:ext uri="{FF2B5EF4-FFF2-40B4-BE49-F238E27FC236}">
                <a16:creationId xmlns:a16="http://schemas.microsoft.com/office/drawing/2014/main" id="{1DD1CAFF-7C02-49A0-8A9F-C9C1BFCD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5610225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9" name="item-0">
            <a:extLst xmlns:a="http://schemas.openxmlformats.org/drawingml/2006/main">
              <a:ext uri="{FF2B5EF4-FFF2-40B4-BE49-F238E27FC236}">
                <a16:creationId xmlns:a16="http://schemas.microsoft.com/office/drawing/2014/main" id="{9CA49B81-3E4B-4CA1-B413-4C78BCB3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38775"/>
            <a:ext cx="128682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6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تيسير الوصول إلى جهة تجريبية ومراجعين متخصصين</a:t>
            </a:r>
          </a:p>
        </p:txBody>
      </p:sp>
      <p:sp>
        <p:nvSpPr>
          <p:cNvPr id="10" name="item-rule-1">
            <a:extLst xmlns:a="http://schemas.openxmlformats.org/drawingml/2006/main">
              <a:ext uri="{FF2B5EF4-FFF2-40B4-BE49-F238E27FC236}">
                <a16:creationId xmlns:a16="http://schemas.microsoft.com/office/drawing/2014/main" id="{CDB95313-0DA8-485A-AFE1-AE1CF9A8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515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B4BD"/>
          </a:solidFill>
          <a:ln xmlns:a="http://schemas.openxmlformats.org/drawingml/2006/main" w="0">
            <a:noFill/>
          </a:ln>
        </p:spPr>
      </p:sp>
      <p:sp>
        <p:nvSpPr>
          <p:cNvPr id="11" name="item-1">
            <a:extLst xmlns:a="http://schemas.openxmlformats.org/drawingml/2006/main">
              <a:ext uri="{FF2B5EF4-FFF2-40B4-BE49-F238E27FC236}">
                <a16:creationId xmlns:a16="http://schemas.microsoft.com/office/drawing/2014/main" id="{A2FDB871-68D9-4CF8-9325-8C8C3C83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43650"/>
            <a:ext cx="128682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2625" b="0">
                <a:solidFill>
                  <a:srgbClr val="FAFAFA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 lang="ar-SA">
                <a:solidFill>
                  <a:srgbClr val="FAFAFA"/>
                </a:solidFill>
                <a:latin typeface="DejaVu Sans"/>
                <a:ea typeface="DejaVu Sans"/>
                <a:cs typeface="DejaVu Sans"/>
              </a:rPr>
              <a:t>دعم تطوير النموذج التجاري ومسار الحماية الفكرية</a:t>
            </a:r>
          </a:p>
        </p:txBody>
      </p:sp>
      <p:sp>
        <p:nvSpPr>
          <p:cNvPr id="12" name="platform-link">
            <a:extLst xmlns:a="http://schemas.openxmlformats.org/drawingml/2006/main">
              <a:ext uri="{FF2B5EF4-FFF2-40B4-BE49-F238E27FC236}">
                <a16:creationId xmlns:a16="http://schemas.microsoft.com/office/drawing/2014/main" id="{4198643A-A133-42D7-88CA-C56A287F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477125"/>
            <a:ext cx="131540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700" b="1">
                <a:solidFill>
                  <a:srgbClr val="1BB4B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BB4BD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ca6ce98cb8f64a23"/>
              </a:rPr>
              <a:t>adeebnoor.github.io/Miyar</a:t>
            </a:r>
          </a:p>
        </p:txBody>
      </p:sp>
      <p:sp>
        <p:nvSpPr>
          <p:cNvPr id="13" name="slide-note">
            <a:extLst xmlns:a="http://schemas.openxmlformats.org/drawingml/2006/main">
              <a:ext uri="{FF2B5EF4-FFF2-40B4-BE49-F238E27FC236}">
                <a16:creationId xmlns:a16="http://schemas.microsoft.com/office/drawing/2014/main" id="{5DA4376C-6B29-4EB5-8F5B-854E2065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8448675"/>
            <a:ext cx="12249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 rtl="1">
              <a:defRPr sz="1725" b="0">
                <a:solidFill>
                  <a:srgbClr val="D7E1E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 lang="ar-SA">
                <a:solidFill>
                  <a:srgbClr val="D7E1E7"/>
                </a:solidFill>
                <a:latin typeface="DejaVu Sans"/>
                <a:ea typeface="DejaVu Sans"/>
                <a:cs typeface="DejaVu Sans"/>
              </a:rPr>
              <a:t>استعرض المنصة وابدأ بالنموذج التجريبي</a:t>
            </a:r>
          </a:p>
        </p:txBody>
      </p:sp>
    </p:spTree>
    <p:extLst>
      <p:ext uri="{BB962C8B-B14F-4D97-AF65-F5344CB8AC3E}">
        <p14:creationId xmlns:p14="http://schemas.microsoft.com/office/powerpoint/2010/main" val="1727725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2026-09-13T19:14:25.2060000Z</dcterms:created>
  <dcterms:modified xsi:type="dcterms:W3CDTF">2026-09-13T19:14:25.2060000Z</dcterms:modified>
</coreProperties>
</file>